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webextensions/webextension2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70" r:id="rId3"/>
    <p:sldId id="271" r:id="rId4"/>
    <p:sldId id="272" r:id="rId5"/>
    <p:sldId id="274" r:id="rId6"/>
    <p:sldId id="264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44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1" y="919576"/>
            <a:ext cx="3889855" cy="7472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9528" y="2220659"/>
            <a:ext cx="1828800" cy="2726293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Rectangle 10"/>
          <p:cNvSpPr/>
          <p:nvPr/>
        </p:nvSpPr>
        <p:spPr>
          <a:xfrm>
            <a:off x="1865376" y="2220659"/>
            <a:ext cx="10363200" cy="2726293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68791" y="2479581"/>
            <a:ext cx="9108812" cy="2023153"/>
          </a:xfrm>
        </p:spPr>
        <p:txBody>
          <a:bodyPr tIns="91440" bIns="91440" anchor="ctr" anchorCtr="0">
            <a:normAutofit/>
          </a:bodyPr>
          <a:lstStyle>
            <a:lvl1pPr>
              <a:defRPr sz="5335" b="0">
                <a:solidFill>
                  <a:srgbClr val="CC9900"/>
                </a:solidFill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546" y="5019482"/>
            <a:ext cx="7678057" cy="787300"/>
          </a:xfrm>
        </p:spPr>
        <p:txBody>
          <a:bodyPr>
            <a:normAutofit/>
          </a:bodyPr>
          <a:lstStyle>
            <a:lvl1pPr marL="0" indent="0" algn="r">
              <a:buNone/>
              <a:defRPr sz="3465">
                <a:solidFill>
                  <a:srgbClr val="545454"/>
                </a:solidFill>
                <a:latin typeface="+mn-lt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9523" y="6146495"/>
            <a:ext cx="4366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zh-CN" altLang="en-US"/>
          </a:p>
        </p:txBody>
      </p:sp>
      <p:sp>
        <p:nvSpPr>
          <p:cNvPr id="12" name="Date Placeholder 12"/>
          <p:cNvSpPr>
            <a:spLocks noGrp="1"/>
          </p:cNvSpPr>
          <p:nvPr>
            <p:ph type="dt" sz="half" idx="2"/>
          </p:nvPr>
        </p:nvSpPr>
        <p:spPr>
          <a:xfrm>
            <a:off x="5746251" y="6146495"/>
            <a:ext cx="1693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13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522437" y="6138687"/>
            <a:ext cx="857087" cy="37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ctr">
              <a:defRPr lang="en-US" sz="3200" spc="-13" dirty="0">
                <a:solidFill>
                  <a:srgbClr val="003366"/>
                </a:solidFill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095" y="5770104"/>
            <a:ext cx="2153835" cy="4137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365" y="1087896"/>
            <a:ext cx="8841963" cy="1664965"/>
          </a:xfrm>
        </p:spPr>
        <p:txBody>
          <a:bodyPr lIns="0" rIns="457200" anchor="b" anchorCtr="0"/>
          <a:lstStyle>
            <a:lvl1pPr algn="l">
              <a:defRPr sz="5335" b="0" cap="all" spc="133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8365" y="3308552"/>
            <a:ext cx="8841963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3735" baseline="0">
                <a:solidFill>
                  <a:srgbClr val="545454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-3" y="2838205"/>
            <a:ext cx="1243584" cy="328315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1309951" y="2838205"/>
            <a:ext cx="8900160" cy="32831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-by-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99941"/>
            <a:ext cx="5384800" cy="43199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99941"/>
            <a:ext cx="5384800" cy="43199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7"/>
            <a:ext cx="5386917" cy="3647587"/>
          </a:xfrm>
        </p:spPr>
        <p:txBody>
          <a:bodyPr>
            <a:normAutofit/>
          </a:bodyPr>
          <a:lstStyle>
            <a:lvl1pPr>
              <a:defRPr sz="2665"/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6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7"/>
            <a:ext cx="5389033" cy="3647587"/>
          </a:xfrm>
        </p:spPr>
        <p:txBody>
          <a:bodyPr>
            <a:normAutofit/>
          </a:bodyPr>
          <a:lstStyle>
            <a:lvl1pPr>
              <a:defRPr sz="2665"/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8580" y="4618543"/>
            <a:ext cx="9586872" cy="566739"/>
          </a:xfrm>
        </p:spPr>
        <p:txBody>
          <a:bodyPr anchor="b">
            <a:noAutofit/>
          </a:bodyPr>
          <a:lstStyle>
            <a:lvl1pPr algn="ctr">
              <a:defRPr sz="4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23342" y="547479"/>
            <a:ext cx="8381801" cy="391342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8580" y="5209471"/>
            <a:ext cx="9586872" cy="559960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1348368" y="1614157"/>
            <a:ext cx="8841963" cy="1706227"/>
          </a:xfrm>
        </p:spPr>
        <p:txBody>
          <a:bodyPr lIns="0" rIns="457200" anchor="b" anchorCtr="0"/>
          <a:lstStyle>
            <a:lvl1pPr algn="l">
              <a:defRPr sz="5335" b="0" cap="all" spc="133" baseline="0"/>
            </a:lvl1pPr>
          </a:lstStyle>
          <a:p>
            <a:r>
              <a:rPr lang="en-US" dirty="0"/>
              <a:t>Click to edit Thank you Title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1348368" y="3799944"/>
            <a:ext cx="8841963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3735" baseline="0">
                <a:solidFill>
                  <a:srgbClr val="545454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421719"/>
            <a:ext cx="1243584" cy="328315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1309953" y="3421719"/>
            <a:ext cx="8900160" cy="32831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095" y="5770104"/>
            <a:ext cx="2153835" cy="41376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342925" y="5948707"/>
            <a:ext cx="10850880" cy="7686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/>
          <p:cNvSpPr/>
          <p:nvPr/>
        </p:nvSpPr>
        <p:spPr>
          <a:xfrm>
            <a:off x="-10385" y="5948707"/>
            <a:ext cx="1292351" cy="7686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162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Header Style is Arial 38pt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06880"/>
            <a:ext cx="10972800" cy="4154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90011" y="6137824"/>
            <a:ext cx="4366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rgbClr val="EEEEEE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zh-CN" alt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2"/>
          </p:nvPr>
        </p:nvSpPr>
        <p:spPr>
          <a:xfrm>
            <a:off x="5956739" y="6137824"/>
            <a:ext cx="1693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rgbClr val="EEEEEE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2F4A369-E186-451F-B48A-C93F5E8F6D43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181061" y="6138688"/>
            <a:ext cx="8570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-10385" y="5948707"/>
            <a:ext cx="1292351" cy="7686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0401" y="6123054"/>
            <a:ext cx="2233913" cy="4195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609600" rtl="0" eaLnBrk="1" latinLnBrk="0" hangingPunct="1">
        <a:spcBef>
          <a:spcPct val="0"/>
        </a:spcBef>
        <a:buNone/>
        <a:defRPr sz="5065" b="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609600" rtl="0" eaLnBrk="1" latinLnBrk="0" hangingPunct="1">
        <a:spcBef>
          <a:spcPct val="20000"/>
        </a:spcBef>
        <a:buFont typeface="Arial" panose="020B0604020202020204"/>
        <a:buChar char="•"/>
        <a:defRPr sz="4265" kern="1200">
          <a:solidFill>
            <a:srgbClr val="545454"/>
          </a:solidFill>
          <a:latin typeface="+mn-lt"/>
          <a:ea typeface="+mn-ea"/>
          <a:cs typeface="+mn-cs"/>
        </a:defRPr>
      </a:lvl1pPr>
      <a:lvl2pPr marL="990600" indent="-381000" algn="l" defTabSz="609600" rtl="0" eaLnBrk="1" latinLnBrk="0" hangingPunct="1">
        <a:spcBef>
          <a:spcPct val="20000"/>
        </a:spcBef>
        <a:buFont typeface="Arial" panose="020B0604020202020204"/>
        <a:buChar char="–"/>
        <a:defRPr sz="3735" kern="1200">
          <a:solidFill>
            <a:srgbClr val="545454"/>
          </a:solidFill>
          <a:latin typeface="+mn-lt"/>
          <a:ea typeface="+mn-ea"/>
          <a:cs typeface="+mn-cs"/>
        </a:defRPr>
      </a:lvl2pPr>
      <a:lvl3pPr marL="1524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rgbClr val="545454"/>
          </a:solidFill>
          <a:latin typeface="+mn-lt"/>
          <a:ea typeface="+mn-ea"/>
          <a:cs typeface="+mn-cs"/>
        </a:defRPr>
      </a:lvl3pPr>
      <a:lvl4pPr marL="2133600" indent="-304800" algn="l" defTabSz="609600" rtl="0" eaLnBrk="1" latinLnBrk="0" hangingPunct="1">
        <a:spcBef>
          <a:spcPct val="20000"/>
        </a:spcBef>
        <a:buFont typeface="Arial" panose="020B0604020202020204"/>
        <a:buChar char="–"/>
        <a:defRPr sz="2665" kern="1200">
          <a:solidFill>
            <a:srgbClr val="545454"/>
          </a:solidFill>
          <a:latin typeface="+mn-lt"/>
          <a:ea typeface="+mn-ea"/>
          <a:cs typeface="+mn-cs"/>
        </a:defRPr>
      </a:lvl4pPr>
      <a:lvl5pPr marL="2743200" indent="-304800" algn="l" defTabSz="609600" rtl="0" eaLnBrk="1" latinLnBrk="0" hangingPunct="1">
        <a:spcBef>
          <a:spcPct val="20000"/>
        </a:spcBef>
        <a:buFont typeface="Arial" panose="020B0604020202020204"/>
        <a:buChar char="»"/>
        <a:defRPr sz="2665" kern="1200">
          <a:solidFill>
            <a:srgbClr val="545454"/>
          </a:solidFill>
          <a:latin typeface="+mn-lt"/>
          <a:ea typeface="+mn-ea"/>
          <a:cs typeface="+mn-cs"/>
        </a:defRPr>
      </a:lvl5pPr>
      <a:lvl6pPr marL="33528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AI for CHEM 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第三次讨论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3</a:t>
            </a:r>
            <a:r>
              <a:rPr lang="en-US" altLang="zh-CN" baseline="30000" dirty="0">
                <a:cs typeface="+mn-ea"/>
                <a:sym typeface="+mn-lt"/>
              </a:rPr>
              <a:t>rd</a:t>
            </a:r>
            <a:r>
              <a:rPr lang="en-US" altLang="zh-CN" dirty="0">
                <a:cs typeface="+mn-ea"/>
                <a:sym typeface="+mn-lt"/>
              </a:rPr>
              <a:t> 2026/09/17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F6DDBD-D656-41C0-9BC8-2A82A1F2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3BC1A2-107F-42D7-B997-06412B256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920" y="472071"/>
            <a:ext cx="2228174" cy="584775"/>
          </a:xfrm>
        </p:spPr>
        <p:txBody>
          <a:bodyPr/>
          <a:lstStyle/>
          <a:p>
            <a:pPr algn="ctr"/>
            <a:r>
              <a:rPr lang="zh-CN" altLang="en-US" b="1" dirty="0"/>
              <a:t>数据与信息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5C388E-C2D3-437F-A13B-6FF3A8D2F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804" y="1166515"/>
            <a:ext cx="8044391" cy="452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02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BD6D9A-BED5-4287-8B95-84D890B5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806062A-7591-452B-9D05-672D5E9BE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1376" y="472071"/>
            <a:ext cx="1989263" cy="584775"/>
          </a:xfrm>
        </p:spPr>
        <p:txBody>
          <a:bodyPr/>
          <a:lstStyle/>
          <a:p>
            <a:pPr algn="ctr"/>
            <a:r>
              <a:rPr lang="en-US" altLang="zh-CN" b="1" dirty="0"/>
              <a:t>DIKW</a:t>
            </a:r>
            <a:r>
              <a:rPr lang="zh-CN" altLang="en-US" b="1" dirty="0"/>
              <a:t>体系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6505DA3-4CA9-4249-AD5B-378435DE7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4" y="1056846"/>
            <a:ext cx="5257796" cy="453338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622D638-A7B7-4384-A91E-8DB8C1CB5101}"/>
              </a:ext>
            </a:extLst>
          </p:cNvPr>
          <p:cNvSpPr txBox="1"/>
          <p:nvPr/>
        </p:nvSpPr>
        <p:spPr>
          <a:xfrm>
            <a:off x="6593680" y="1400860"/>
            <a:ext cx="46648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Where is the wisdom we have lost in knowledge? (</a:t>
            </a:r>
            <a:r>
              <a:rPr lang="zh-CN" altLang="en-US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我们在知识中所失去的智慧在哪里？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Where is the knowledge we have lost in information? (</a:t>
            </a:r>
            <a:r>
              <a:rPr lang="zh-CN" altLang="en-US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我们在</a:t>
            </a:r>
            <a:r>
              <a:rPr lang="zh-CN" altLang="en-US" dirty="0">
                <a:solidFill>
                  <a:srgbClr val="202122"/>
                </a:solidFill>
                <a:latin typeface="Arial" panose="020B0604020202020204" pitchFamily="34" charset="0"/>
              </a:rPr>
              <a:t>信息</a:t>
            </a:r>
            <a:r>
              <a:rPr lang="zh-CN" altLang="en-US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中所失去的知识在哪里？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pPr algn="r"/>
            <a:r>
              <a:rPr lang="zh-CN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艾略特（</a:t>
            </a:r>
            <a:r>
              <a:rPr lang="en-US" altLang="zh-CN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1948</a:t>
            </a:r>
            <a:r>
              <a:rPr lang="zh-CN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年</a:t>
            </a:r>
            <a:r>
              <a:rPr lang="zh-CN" altLang="en-US" b="1" dirty="0">
                <a:solidFill>
                  <a:srgbClr val="202122"/>
                </a:solidFill>
                <a:latin typeface="Arial" panose="020B0604020202020204" pitchFamily="34" charset="0"/>
              </a:rPr>
              <a:t>诺贝尔文学奖</a:t>
            </a:r>
            <a:r>
              <a:rPr lang="zh-CN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8529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A52B61-0135-4D97-8C6F-ACE3AC1FD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350B72F-5F02-41FA-8BE9-A549DA6DA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66" y="472071"/>
            <a:ext cx="3454280" cy="584775"/>
          </a:xfrm>
        </p:spPr>
        <p:txBody>
          <a:bodyPr/>
          <a:lstStyle/>
          <a:p>
            <a:pPr algn="ctr"/>
            <a:r>
              <a:rPr lang="zh-CN" altLang="en-US" b="1" dirty="0"/>
              <a:t>计算机的数据类型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81C9A4-E135-4063-9CEE-3376B0064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673" y="1377614"/>
            <a:ext cx="6322653" cy="410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34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8D6051-30E2-4B63-915A-F16329A2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8E636C3-C088-4B1E-8D58-87A46D8B3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916" y="472071"/>
            <a:ext cx="2228174" cy="584775"/>
          </a:xfrm>
        </p:spPr>
        <p:txBody>
          <a:bodyPr/>
          <a:lstStyle/>
          <a:p>
            <a:pPr algn="ctr"/>
            <a:r>
              <a:rPr lang="zh-CN" altLang="en-US" b="1" dirty="0"/>
              <a:t>香农与信息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5E4B99-BFAC-402D-B264-2A074AEA9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735" y="1056846"/>
            <a:ext cx="3105715" cy="388134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79CD198-CD88-4419-835C-02BCB03A7994}"/>
              </a:ext>
            </a:extLst>
          </p:cNvPr>
          <p:cNvSpPr txBox="1"/>
          <p:nvPr/>
        </p:nvSpPr>
        <p:spPr>
          <a:xfrm>
            <a:off x="1264897" y="5063609"/>
            <a:ext cx="38513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克劳德</a:t>
            </a:r>
            <a:r>
              <a:rPr lang="en-US" altLang="zh-CN" b="1" dirty="0"/>
              <a:t>·</a:t>
            </a:r>
            <a:r>
              <a:rPr lang="zh-CN" altLang="en-US" b="1" dirty="0"/>
              <a:t>艾尔伍德</a:t>
            </a:r>
            <a:r>
              <a:rPr lang="en-US" altLang="zh-CN" b="1" dirty="0"/>
              <a:t>·</a:t>
            </a:r>
            <a:r>
              <a:rPr lang="zh-CN" altLang="en-US" b="1" dirty="0"/>
              <a:t>香农</a:t>
            </a:r>
            <a:endParaRPr lang="en-US" altLang="zh-CN" b="1" dirty="0"/>
          </a:p>
          <a:p>
            <a:pPr algn="ctr"/>
            <a:r>
              <a:rPr lang="zh-CN" altLang="en-US" b="1" dirty="0"/>
              <a:t>（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1916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年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4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月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30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日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—2001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年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月</a:t>
            </a: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24</a:t>
            </a:r>
            <a:r>
              <a:rPr lang="zh-CN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日</a:t>
            </a:r>
            <a:r>
              <a:rPr lang="zh-CN" altLang="en-US" b="1" dirty="0"/>
              <a:t>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A5A1AF8-E5B5-475A-8E30-519FC07D1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634" y="1448871"/>
            <a:ext cx="3105715" cy="14800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C820911-CC3E-4DB0-A426-24ED81221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5349" y="1419225"/>
            <a:ext cx="3495675" cy="153935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AE4CF45-419E-4AEF-99D8-A72FCEFEC784}"/>
              </a:ext>
            </a:extLst>
          </p:cNvPr>
          <p:cNvSpPr txBox="1"/>
          <p:nvPr/>
        </p:nvSpPr>
        <p:spPr>
          <a:xfrm>
            <a:off x="7845935" y="316594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贝尔实验室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5EFE74C-FACB-4C00-843D-82D433B31E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724" y="3609645"/>
            <a:ext cx="2505976" cy="20145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410393B-9EA6-4145-98E9-8CB30F5077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0971" y="3609645"/>
            <a:ext cx="2788900" cy="201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81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7200" y="1197576"/>
            <a:ext cx="54006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# </a:t>
            </a:r>
            <a:r>
              <a:rPr lang="zh-CN" altLang="en-US" b="1" dirty="0"/>
              <a:t>开场</a:t>
            </a:r>
            <a:r>
              <a:rPr lang="zh-CN" altLang="en-US" dirty="0"/>
              <a:t>：约</a:t>
            </a:r>
            <a:r>
              <a:rPr lang="en-US" altLang="zh-CN" dirty="0"/>
              <a:t>2-3</a:t>
            </a:r>
            <a:r>
              <a:rPr lang="zh-CN" altLang="en-US" dirty="0"/>
              <a:t>分钟</a:t>
            </a:r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问题分享</a:t>
            </a:r>
            <a:r>
              <a:rPr lang="zh-CN" altLang="en-US" dirty="0"/>
              <a:t>：每人约</a:t>
            </a:r>
            <a:r>
              <a:rPr lang="en-US" altLang="zh-CN" dirty="0"/>
              <a:t>3</a:t>
            </a:r>
            <a:r>
              <a:rPr lang="zh-CN" altLang="en-US" dirty="0"/>
              <a:t>分钟，挑选一个问题回答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集体讨论</a:t>
            </a:r>
            <a:r>
              <a:rPr lang="zh-CN" altLang="en-US" dirty="0"/>
              <a:t>：约</a:t>
            </a:r>
            <a:r>
              <a:rPr lang="en-US" altLang="zh-CN" dirty="0"/>
              <a:t>15</a:t>
            </a:r>
            <a:r>
              <a:rPr lang="zh-CN" altLang="en-US" dirty="0"/>
              <a:t>分钟，学习中的问题等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发言顺序</a:t>
            </a:r>
            <a:r>
              <a:rPr lang="zh-CN" altLang="en-US" dirty="0"/>
              <a:t>：袁、迪、杨、李、袁 （随机生成）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186267" y="472071"/>
            <a:ext cx="1819472" cy="584775"/>
          </a:xfrm>
        </p:spPr>
        <p:txBody>
          <a:bodyPr/>
          <a:lstStyle/>
          <a:p>
            <a:pPr algn="ctr"/>
            <a:r>
              <a:rPr lang="zh-CN" altLang="en-US" b="1" dirty="0"/>
              <a:t>讨论流程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63B080-6E6A-4A61-A75F-122AF5E5EFCF}"/>
              </a:ext>
            </a:extLst>
          </p:cNvPr>
          <p:cNvSpPr txBox="1"/>
          <p:nvPr/>
        </p:nvSpPr>
        <p:spPr>
          <a:xfrm>
            <a:off x="5634038" y="1056846"/>
            <a:ext cx="61007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- </a:t>
            </a:r>
            <a:r>
              <a:rPr lang="zh-CN" altLang="en-US" dirty="0"/>
              <a:t>什么是数据？什么是信息？它们是什么关系？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从你自己的实验记录或一篇文献里，各找一个“数据”和“信息”的例子。</a:t>
            </a:r>
          </a:p>
          <a:p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数据的类型有哪些？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计算机里只有 </a:t>
            </a:r>
            <a:r>
              <a:rPr lang="en-US" altLang="zh-CN" dirty="0"/>
              <a:t>0 </a:t>
            </a:r>
            <a:r>
              <a:rPr lang="zh-CN" altLang="en-US" dirty="0"/>
              <a:t>和 </a:t>
            </a:r>
            <a:r>
              <a:rPr lang="en-US" altLang="zh-CN" dirty="0"/>
              <a:t>1</a:t>
            </a:r>
            <a:r>
              <a:rPr lang="zh-CN" altLang="en-US" dirty="0"/>
              <a:t>，文字、数字、图片、分子结构分别是怎么被表示的？ </a:t>
            </a:r>
          </a:p>
          <a:p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结构化数据与非结构化数据有什么区别？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盘点你的科研数据：哪些是结构化的数据，哪些是非结构化的数据？</a:t>
            </a:r>
          </a:p>
          <a:p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什么样的数据才算“好数据”？ 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数据“多”和“好”哪个更重要？</a:t>
            </a:r>
          </a:p>
          <a:p>
            <a:endParaRPr lang="en-US" altLang="zh-CN" dirty="0"/>
          </a:p>
          <a:p>
            <a:r>
              <a:rPr lang="en-US" altLang="zh-CN" dirty="0"/>
              <a:t>- </a:t>
            </a:r>
            <a:r>
              <a:rPr lang="zh-CN" altLang="en-US" dirty="0"/>
              <a:t>结合你的领域说说：文献里的数据为什么经常“不好用”？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机器要“学出规律”，所提供的数据至少需要什么条件？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D9F352-5B4E-4FE9-BBAA-92DF2EB0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A8E93-70EC-4A8E-84B2-F5FED5A6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561" y="472071"/>
            <a:ext cx="2636877" cy="584775"/>
          </a:xfrm>
        </p:spPr>
        <p:txBody>
          <a:bodyPr/>
          <a:lstStyle/>
          <a:p>
            <a:pPr algn="ctr"/>
            <a:r>
              <a:rPr lang="zh-CN" altLang="en-US" b="1" dirty="0"/>
              <a:t>个人主题分享</a:t>
            </a:r>
            <a:endParaRPr lang="zh-CN" altLang="en-US" dirty="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6" name="加载项 5" title="Breaktime">
                <a:extLst>
                  <a:ext uri="{FF2B5EF4-FFF2-40B4-BE49-F238E27FC236}">
                    <a16:creationId xmlns:a16="http://schemas.microsoft.com/office/drawing/2014/main" id="{D34D2E9A-14F0-4C63-B72D-6FB44FAEDB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9375629"/>
                  </p:ext>
                </p:extLst>
              </p:nvPr>
            </p:nvGraphicFramePr>
            <p:xfrm>
              <a:off x="3671887" y="1314448"/>
              <a:ext cx="4848225" cy="315277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加载项 5" title="Breaktime">
                <a:extLst>
                  <a:ext uri="{FF2B5EF4-FFF2-40B4-BE49-F238E27FC236}">
                    <a16:creationId xmlns:a16="http://schemas.microsoft.com/office/drawing/2014/main" id="{D34D2E9A-14F0-4C63-B72D-6FB44FAEDB9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1887" y="1314448"/>
                <a:ext cx="4848225" cy="31527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0398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BF205A-C438-4699-AE22-E59B8937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2A538B2-B0D5-432B-9DB7-280EC7C1A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263" y="472071"/>
            <a:ext cx="1819473" cy="584775"/>
          </a:xfrm>
        </p:spPr>
        <p:txBody>
          <a:bodyPr/>
          <a:lstStyle/>
          <a:p>
            <a:pPr algn="ctr"/>
            <a:r>
              <a:rPr lang="zh-CN" altLang="en-US" b="1" dirty="0"/>
              <a:t>集体讨论</a:t>
            </a:r>
            <a:endParaRPr lang="zh-CN" altLang="en-US" dirty="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6" name="加载项 5" title="Breaktime">
                <a:extLst>
                  <a:ext uri="{FF2B5EF4-FFF2-40B4-BE49-F238E27FC236}">
                    <a16:creationId xmlns:a16="http://schemas.microsoft.com/office/drawing/2014/main" id="{02972156-4E11-469A-B65B-C7DF731C33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1635802"/>
                  </p:ext>
                </p:extLst>
              </p:nvPr>
            </p:nvGraphicFramePr>
            <p:xfrm>
              <a:off x="3671887" y="1314448"/>
              <a:ext cx="4848225" cy="315277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加载项 5" title="Breaktime">
                <a:extLst>
                  <a:ext uri="{FF2B5EF4-FFF2-40B4-BE49-F238E27FC236}">
                    <a16:creationId xmlns:a16="http://schemas.microsoft.com/office/drawing/2014/main" id="{02972156-4E11-469A-B65B-C7DF731C335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1887" y="1314448"/>
                <a:ext cx="4848225" cy="31527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23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E421B7-B85F-4AFD-B6D8-28B5E52B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743683-F340-4BB6-931D-E05CE2EB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967" y="472071"/>
            <a:ext cx="1002069" cy="584775"/>
          </a:xfrm>
        </p:spPr>
        <p:txBody>
          <a:bodyPr/>
          <a:lstStyle/>
          <a:p>
            <a:pPr algn="ctr"/>
            <a:r>
              <a:rPr lang="zh-CN" altLang="en-US" b="1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3610566703"/>
      </p:ext>
    </p:extLst>
  </p:cSld>
  <p:clrMapOvr>
    <a:masterClrMapping/>
  </p:clrMapOvr>
</p:sld>
</file>

<file path=ppt/theme/theme1.xml><?xml version="1.0" encoding="utf-8"?>
<a:theme xmlns:a="http://schemas.openxmlformats.org/drawingml/2006/main" name="HKUST-宽屏-精致-方块">
  <a:themeElements>
    <a:clrScheme name="Berkeley-Haas Color Palette">
      <a:dk1>
        <a:srgbClr val="003057"/>
      </a:dk1>
      <a:lt1>
        <a:sysClr val="window" lastClr="FFFFFF"/>
      </a:lt1>
      <a:dk2>
        <a:srgbClr val="75777B"/>
      </a:dk2>
      <a:lt2>
        <a:srgbClr val="C3BDAD"/>
      </a:lt2>
      <a:accent1>
        <a:srgbClr val="0072CE"/>
      </a:accent1>
      <a:accent2>
        <a:srgbClr val="D8623F"/>
      </a:accent2>
      <a:accent3>
        <a:srgbClr val="6AA603"/>
      </a:accent3>
      <a:accent4>
        <a:srgbClr val="EFB82B"/>
      </a:accent4>
      <a:accent5>
        <a:srgbClr val="EA4D6C"/>
      </a:accent5>
      <a:accent6>
        <a:srgbClr val="9BBFAD"/>
      </a:accent6>
      <a:hlink>
        <a:srgbClr val="B2B3B2"/>
      </a:hlink>
      <a:folHlink>
        <a:srgbClr val="777877"/>
      </a:folHlink>
    </a:clrScheme>
    <a:fontScheme name="hd2x35d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webextensions/webextension1.xml><?xml version="1.0" encoding="utf-8"?>
<we:webextension xmlns:we="http://schemas.microsoft.com/office/webextensions/webextension/2010/11" id="{BC27A4AB-EDE1-4E46-85CD-4D5DB23267EA}">
  <we:reference id="wa200001661" version="3.1.2.0" store="zh-CN" storeType="OMEX"/>
  <we:alternateReferences>
    <we:reference id="WA200001661" version="3.1.2.0" store="WA200001661" storeType="OMEX"/>
  </we:alternateReferences>
  <we:properties>
    <we:property name="breaktime.flosim.com_fontColour" value="&quot;#003366&quot;"/>
    <we:property name="breaktime.flosim.com_startMinutes" value="3"/>
    <we:property name="breaktime.flosim.com_time" value="180"/>
    <we:property name="time" value="180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C2E242DC-ED46-4B56-9A60-4CA921DE2D81}">
  <we:reference id="wa200001661" version="3.1.2.0" store="zh-CN" storeType="OMEX"/>
  <we:alternateReferences>
    <we:reference id="WA200001661" version="3.1.2.0" store="WA200001661" storeType="OMEX"/>
  </we:alternateReferences>
  <we:properties>
    <we:property name="breaktime.flosim.com_fontColour" value="&quot;#003366&quot;"/>
    <we:property name="breaktime.flosim.com_startMinutes" value="15"/>
    <we:property name="breaktime.flosim.com_time" value="900"/>
    <we:property name="time" value="900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HKUST-宽屏-精致-方块</Template>
  <TotalTime>87</TotalTime>
  <Words>309</Words>
  <Application>Microsoft Office PowerPoint</Application>
  <PresentationFormat>宽屏</PresentationFormat>
  <Paragraphs>47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Arial</vt:lpstr>
      <vt:lpstr>Bahnschrift SemiBold</vt:lpstr>
      <vt:lpstr>Calibri</vt:lpstr>
      <vt:lpstr>Helvetica</vt:lpstr>
      <vt:lpstr>HKUST-宽屏-精致-方块</vt:lpstr>
      <vt:lpstr>AI for CHEM 第三次讨论</vt:lpstr>
      <vt:lpstr>数据与信息</vt:lpstr>
      <vt:lpstr>DIKW体系</vt:lpstr>
      <vt:lpstr>计算机的数据类型</vt:lpstr>
      <vt:lpstr>香农与信息</vt:lpstr>
      <vt:lpstr>讨论流程</vt:lpstr>
      <vt:lpstr>个人主题分享</vt:lpstr>
      <vt:lpstr>集体讨论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冲 李</dc:creator>
  <cp:lastModifiedBy>LI Chong</cp:lastModifiedBy>
  <cp:revision>34</cp:revision>
  <dcterms:created xsi:type="dcterms:W3CDTF">2026-09-03T09:08:00Z</dcterms:created>
  <dcterms:modified xsi:type="dcterms:W3CDTF">2026-10-15T06:53:11Z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2052-11.8.2.8361</vt:lpwstr>
  </property>
</Properties>
</file>