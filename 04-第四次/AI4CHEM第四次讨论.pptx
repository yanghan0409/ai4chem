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70" r:id="rId3"/>
    <p:sldId id="271" r:id="rId4"/>
    <p:sldId id="272" r:id="rId5"/>
    <p:sldId id="276" r:id="rId6"/>
    <p:sldId id="273" r:id="rId7"/>
    <p:sldId id="264" r:id="rId8"/>
    <p:sldId id="268" r:id="rId9"/>
    <p:sldId id="274" r:id="rId10"/>
    <p:sldId id="27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109" d="100"/>
          <a:sy n="109" d="100"/>
        </p:scale>
        <p:origin x="588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216384" cy="68671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71" y="919576"/>
            <a:ext cx="3889855" cy="74726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-9528" y="2220659"/>
            <a:ext cx="1828800" cy="2726293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1" name="Rectangle 10"/>
          <p:cNvSpPr/>
          <p:nvPr/>
        </p:nvSpPr>
        <p:spPr>
          <a:xfrm>
            <a:off x="1865376" y="2220659"/>
            <a:ext cx="10363200" cy="2726293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168791" y="2479581"/>
            <a:ext cx="9108812" cy="2023153"/>
          </a:xfrm>
        </p:spPr>
        <p:txBody>
          <a:bodyPr tIns="91440" bIns="91440" anchor="ctr" anchorCtr="0">
            <a:normAutofit/>
          </a:bodyPr>
          <a:lstStyle>
            <a:lvl1pPr>
              <a:defRPr sz="5335" b="0">
                <a:solidFill>
                  <a:srgbClr val="CC9900"/>
                </a:solidFill>
              </a:defRPr>
            </a:lvl1pPr>
          </a:lstStyle>
          <a:p>
            <a:r>
              <a:rPr lang="en-US" dirty="0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99546" y="5019482"/>
            <a:ext cx="7678057" cy="787300"/>
          </a:xfrm>
        </p:spPr>
        <p:txBody>
          <a:bodyPr>
            <a:normAutofit/>
          </a:bodyPr>
          <a:lstStyle>
            <a:lvl1pPr marL="0" indent="0" algn="r">
              <a:buNone/>
              <a:defRPr sz="3465">
                <a:solidFill>
                  <a:srgbClr val="545454"/>
                </a:solidFill>
                <a:latin typeface="+mn-lt"/>
              </a:defRPr>
            </a:lvl1pPr>
            <a:lvl2pPr marL="609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8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79523" y="6146495"/>
            <a:ext cx="4366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65">
                <a:solidFill>
                  <a:srgbClr val="545454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endParaRPr lang="zh-CN" altLang="en-US"/>
          </a:p>
        </p:txBody>
      </p:sp>
      <p:sp>
        <p:nvSpPr>
          <p:cNvPr id="12" name="Date Placeholder 12"/>
          <p:cNvSpPr>
            <a:spLocks noGrp="1"/>
          </p:cNvSpPr>
          <p:nvPr>
            <p:ph type="dt" sz="half" idx="2"/>
          </p:nvPr>
        </p:nvSpPr>
        <p:spPr>
          <a:xfrm>
            <a:off x="5746251" y="6146495"/>
            <a:ext cx="16934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65">
                <a:solidFill>
                  <a:srgbClr val="545454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fld id="{62F4A369-E186-451F-B48A-C93F5E8F6D43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13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522437" y="6138687"/>
            <a:ext cx="857087" cy="3729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65">
                <a:solidFill>
                  <a:srgbClr val="545454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fld id="{B83163ED-242A-435D-AF32-93DF19B59BB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ndar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51457" y="472071"/>
            <a:ext cx="5089085" cy="584775"/>
          </a:xfrm>
          <a:noFill/>
        </p:spPr>
        <p:txBody>
          <a:bodyPr vert="horz" wrap="none" lIns="91440" tIns="45720" rIns="91440" bIns="45720" rtlCol="0" anchor="ctr">
            <a:spAutoFit/>
          </a:bodyPr>
          <a:lstStyle>
            <a:lvl1pPr algn="ctr">
              <a:defRPr lang="en-US" sz="3200" spc="-13" dirty="0">
                <a:solidFill>
                  <a:srgbClr val="003366"/>
                </a:solidFill>
                <a:latin typeface="Bahnschrift SemiBold" panose="020B0502040204020203" pitchFamily="34" charset="0"/>
                <a:ea typeface="+mn-ea"/>
                <a:cs typeface="+mn-ea"/>
              </a:defRPr>
            </a:lvl1pPr>
          </a:lstStyle>
          <a:p>
            <a:pPr marL="0" lvl="0" algn="ctr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3735"/>
            </a:lvl1pPr>
            <a:lvl2pPr>
              <a:defRPr sz="3200"/>
            </a:lvl2pPr>
            <a:lvl3pPr>
              <a:defRPr sz="2665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4A369-E186-451F-B48A-C93F5E8F6D43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65">
                <a:solidFill>
                  <a:srgbClr val="00274C"/>
                </a:solidFill>
              </a:defRPr>
            </a:lvl1pPr>
          </a:lstStyle>
          <a:p>
            <a:fld id="{B83163ED-242A-435D-AF32-93DF19B59BB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216384" cy="68671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3095" y="5770104"/>
            <a:ext cx="2153835" cy="41376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348365" y="1087896"/>
            <a:ext cx="8841963" cy="1664965"/>
          </a:xfrm>
        </p:spPr>
        <p:txBody>
          <a:bodyPr lIns="0" rIns="457200" anchor="b" anchorCtr="0"/>
          <a:lstStyle>
            <a:lvl1pPr algn="l">
              <a:defRPr sz="5335" b="0" cap="all" spc="133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8365" y="3308552"/>
            <a:ext cx="8841963" cy="1358157"/>
          </a:xfrm>
        </p:spPr>
        <p:txBody>
          <a:bodyPr lIns="0" rIns="457200" anchor="t" anchorCtr="0">
            <a:normAutofit/>
          </a:bodyPr>
          <a:lstStyle>
            <a:lvl1pPr marL="0" indent="0">
              <a:buNone/>
              <a:defRPr sz="3735" baseline="0">
                <a:solidFill>
                  <a:srgbClr val="545454"/>
                </a:solidFill>
              </a:defRPr>
            </a:lvl1pPr>
            <a:lvl2pPr marL="609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3pPr>
            <a:lvl4pPr marL="18288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4pPr>
            <a:lvl5pPr marL="24384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5pPr>
            <a:lvl6pPr marL="30480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6pPr>
            <a:lvl7pPr marL="36576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7pPr>
            <a:lvl8pPr marL="42672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8pPr>
            <a:lvl9pPr marL="48768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Rectangle 7"/>
          <p:cNvSpPr/>
          <p:nvPr/>
        </p:nvSpPr>
        <p:spPr>
          <a:xfrm>
            <a:off x="-3" y="2838205"/>
            <a:ext cx="1243584" cy="328315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9" name="Rectangle 8"/>
          <p:cNvSpPr/>
          <p:nvPr/>
        </p:nvSpPr>
        <p:spPr>
          <a:xfrm>
            <a:off x="1309951" y="2838205"/>
            <a:ext cx="8900160" cy="328315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-by-Sid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499941"/>
            <a:ext cx="5384800" cy="4319955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665"/>
            </a:lvl2pPr>
            <a:lvl3pPr>
              <a:defRPr sz="2400"/>
            </a:lvl3pPr>
            <a:lvl4pPr>
              <a:defRPr sz="2135"/>
            </a:lvl4pPr>
            <a:lvl5pPr>
              <a:defRPr sz="2135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499941"/>
            <a:ext cx="5384800" cy="4319955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665"/>
            </a:lvl2pPr>
            <a:lvl3pPr>
              <a:defRPr sz="2400"/>
            </a:lvl3pPr>
            <a:lvl4pPr>
              <a:defRPr sz="2135"/>
            </a:lvl4pPr>
            <a:lvl5pPr>
              <a:defRPr sz="2135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4A369-E186-451F-B48A-C93F5E8F6D43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65">
                <a:solidFill>
                  <a:srgbClr val="00274C"/>
                </a:solidFill>
              </a:defRPr>
            </a:lvl1pPr>
          </a:lstStyle>
          <a:p>
            <a:fld id="{B83163ED-242A-435D-AF32-93DF19B59BB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3551457" y="472071"/>
            <a:ext cx="5089085" cy="584775"/>
          </a:xfrm>
          <a:noFill/>
        </p:spPr>
        <p:txBody>
          <a:bodyPr vert="horz" wrap="none" lIns="91440" tIns="45720" rIns="91440" bIns="45720" rtlCol="0" anchor="ctr">
            <a:spAutoFit/>
          </a:bodyPr>
          <a:lstStyle>
            <a:lvl1pPr>
              <a:defRPr lang="en-US" sz="3200" spc="-13" dirty="0">
                <a:latin typeface="Bahnschrift SemiBold" panose="020B0502040204020203" pitchFamily="34" charset="0"/>
                <a:ea typeface="+mn-ea"/>
                <a:cs typeface="+mn-ea"/>
              </a:defRPr>
            </a:lvl1pPr>
          </a:lstStyle>
          <a:p>
            <a:pPr marL="0" lvl="0" algn="ctr"/>
            <a:r>
              <a:rPr lang="zh-CN" altLang="en-US"/>
              <a:t>单击此处编辑母版标题样式</a:t>
            </a:r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2665" b="1"/>
            </a:lvl1pPr>
            <a:lvl2pPr marL="609600" indent="0">
              <a:buNone/>
              <a:defRPr sz="2665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35" b="1"/>
            </a:lvl4pPr>
            <a:lvl5pPr marL="2438400" indent="0">
              <a:buNone/>
              <a:defRPr sz="2135" b="1"/>
            </a:lvl5pPr>
            <a:lvl6pPr marL="3048000" indent="0">
              <a:buNone/>
              <a:defRPr sz="2135" b="1"/>
            </a:lvl6pPr>
            <a:lvl7pPr marL="3657600" indent="0">
              <a:buNone/>
              <a:defRPr sz="2135" b="1"/>
            </a:lvl7pPr>
            <a:lvl8pPr marL="4267200" indent="0">
              <a:buNone/>
              <a:defRPr sz="2135" b="1"/>
            </a:lvl8pPr>
            <a:lvl9pPr marL="4876800" indent="0">
              <a:buNone/>
              <a:defRPr sz="213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7"/>
            <a:ext cx="5386917" cy="3647587"/>
          </a:xfrm>
        </p:spPr>
        <p:txBody>
          <a:bodyPr>
            <a:normAutofit/>
          </a:bodyPr>
          <a:lstStyle>
            <a:lvl1pPr>
              <a:defRPr sz="2665"/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135"/>
            </a:lvl6pPr>
            <a:lvl7pPr>
              <a:defRPr sz="2135"/>
            </a:lvl7pPr>
            <a:lvl8pPr>
              <a:defRPr sz="2135"/>
            </a:lvl8pPr>
            <a:lvl9pPr>
              <a:defRPr sz="213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2665" b="1"/>
            </a:lvl1pPr>
            <a:lvl2pPr marL="609600" indent="0">
              <a:buNone/>
              <a:defRPr sz="2665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35" b="1"/>
            </a:lvl4pPr>
            <a:lvl5pPr marL="2438400" indent="0">
              <a:buNone/>
              <a:defRPr sz="2135" b="1"/>
            </a:lvl5pPr>
            <a:lvl6pPr marL="3048000" indent="0">
              <a:buNone/>
              <a:defRPr sz="2135" b="1"/>
            </a:lvl6pPr>
            <a:lvl7pPr marL="3657600" indent="0">
              <a:buNone/>
              <a:defRPr sz="2135" b="1"/>
            </a:lvl7pPr>
            <a:lvl8pPr marL="4267200" indent="0">
              <a:buNone/>
              <a:defRPr sz="2135" b="1"/>
            </a:lvl8pPr>
            <a:lvl9pPr marL="4876800" indent="0">
              <a:buNone/>
              <a:defRPr sz="213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2" y="2174877"/>
            <a:ext cx="5389033" cy="3647587"/>
          </a:xfrm>
        </p:spPr>
        <p:txBody>
          <a:bodyPr>
            <a:normAutofit/>
          </a:bodyPr>
          <a:lstStyle>
            <a:lvl1pPr>
              <a:defRPr sz="2665"/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135"/>
            </a:lvl6pPr>
            <a:lvl7pPr>
              <a:defRPr sz="2135"/>
            </a:lvl7pPr>
            <a:lvl8pPr>
              <a:defRPr sz="2135"/>
            </a:lvl8pPr>
            <a:lvl9pPr>
              <a:defRPr sz="213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4A369-E186-451F-B48A-C93F5E8F6D43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65">
                <a:solidFill>
                  <a:srgbClr val="00274C"/>
                </a:solidFill>
              </a:defRPr>
            </a:lvl1pPr>
          </a:lstStyle>
          <a:p>
            <a:fld id="{B83163ED-242A-435D-AF32-93DF19B59BB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3551457" y="472071"/>
            <a:ext cx="5089085" cy="584775"/>
          </a:xfrm>
          <a:noFill/>
        </p:spPr>
        <p:txBody>
          <a:bodyPr vert="horz" wrap="none" lIns="91440" tIns="45720" rIns="91440" bIns="45720" rtlCol="0" anchor="ctr">
            <a:spAutoFit/>
          </a:bodyPr>
          <a:lstStyle>
            <a:lvl1pPr>
              <a:defRPr lang="en-US" sz="3200" spc="-13" dirty="0">
                <a:latin typeface="Bahnschrift SemiBold" panose="020B0502040204020203" pitchFamily="34" charset="0"/>
                <a:ea typeface="+mn-ea"/>
                <a:cs typeface="+mn-ea"/>
              </a:defRPr>
            </a:lvl1pPr>
          </a:lstStyle>
          <a:p>
            <a:pPr marL="0" lvl="0" algn="ctr"/>
            <a:r>
              <a:rPr lang="zh-CN" altLang="en-US"/>
              <a:t>单击此处编辑母版标题样式</a:t>
            </a:r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4A369-E186-451F-B48A-C93F5E8F6D43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65">
                <a:solidFill>
                  <a:srgbClr val="00274C"/>
                </a:solidFill>
              </a:defRPr>
            </a:lvl1pPr>
          </a:lstStyle>
          <a:p>
            <a:fld id="{B83163ED-242A-435D-AF32-93DF19B59BB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551457" y="472071"/>
            <a:ext cx="5089085" cy="584775"/>
          </a:xfrm>
          <a:noFill/>
        </p:spPr>
        <p:txBody>
          <a:bodyPr vert="horz" wrap="none" lIns="91440" tIns="45720" rIns="91440" bIns="45720" rtlCol="0" anchor="ctr">
            <a:spAutoFit/>
          </a:bodyPr>
          <a:lstStyle>
            <a:lvl1pPr>
              <a:defRPr lang="en-US" sz="3200" spc="-13" dirty="0">
                <a:latin typeface="Bahnschrift SemiBold" panose="020B0502040204020203" pitchFamily="34" charset="0"/>
                <a:ea typeface="+mn-ea"/>
                <a:cs typeface="+mn-ea"/>
              </a:defRPr>
            </a:lvl1pPr>
          </a:lstStyle>
          <a:p>
            <a:pPr marL="0" lvl="0" algn="ctr"/>
            <a:r>
              <a:rPr lang="zh-CN" altLang="en-US"/>
              <a:t>单击此处编辑母版标题样式</a:t>
            </a:r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4A369-E186-451F-B48A-C93F5E8F6D43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65">
                <a:solidFill>
                  <a:srgbClr val="00274C"/>
                </a:solidFill>
              </a:defRPr>
            </a:lvl1pPr>
          </a:lstStyle>
          <a:p>
            <a:fld id="{B83163ED-242A-435D-AF32-93DF19B59BB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8580" y="4618543"/>
            <a:ext cx="9586872" cy="566739"/>
          </a:xfrm>
        </p:spPr>
        <p:txBody>
          <a:bodyPr anchor="b">
            <a:noAutofit/>
          </a:bodyPr>
          <a:lstStyle>
            <a:lvl1pPr algn="ctr">
              <a:defRPr sz="40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23342" y="547479"/>
            <a:ext cx="8381801" cy="3913420"/>
          </a:xfrm>
        </p:spPr>
        <p:txBody>
          <a:bodyPr/>
          <a:lstStyle>
            <a:lvl1pPr marL="0" indent="0">
              <a:buNone/>
              <a:defRPr sz="4265"/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8400" indent="0">
              <a:buNone/>
              <a:defRPr sz="2665"/>
            </a:lvl5pPr>
            <a:lvl6pPr marL="3048000" indent="0">
              <a:buNone/>
              <a:defRPr sz="2665"/>
            </a:lvl6pPr>
            <a:lvl7pPr marL="3657600" indent="0">
              <a:buNone/>
              <a:defRPr sz="2665"/>
            </a:lvl7pPr>
            <a:lvl8pPr marL="4267200" indent="0">
              <a:buNone/>
              <a:defRPr sz="2665"/>
            </a:lvl8pPr>
            <a:lvl9pPr marL="4876800" indent="0">
              <a:buNone/>
              <a:defRPr sz="2665"/>
            </a:lvl9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18580" y="5209471"/>
            <a:ext cx="9586872" cy="559960"/>
          </a:xfrm>
        </p:spPr>
        <p:txBody>
          <a:bodyPr>
            <a:noAutofit/>
          </a:bodyPr>
          <a:lstStyle>
            <a:lvl1pPr marL="0" indent="0" algn="ctr">
              <a:buNone/>
              <a:defRPr sz="3200"/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4A369-E186-451F-B48A-C93F5E8F6D43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65">
                <a:solidFill>
                  <a:srgbClr val="00274C"/>
                </a:solidFill>
              </a:defRPr>
            </a:lvl1pPr>
          </a:lstStyle>
          <a:p>
            <a:fld id="{B83163ED-242A-435D-AF32-93DF19B59BB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0" y="0"/>
            <a:ext cx="12216384" cy="68671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7" name="Title 1"/>
          <p:cNvSpPr>
            <a:spLocks noGrp="1"/>
          </p:cNvSpPr>
          <p:nvPr>
            <p:ph type="title" hasCustomPrompt="1"/>
          </p:nvPr>
        </p:nvSpPr>
        <p:spPr>
          <a:xfrm>
            <a:off x="1348368" y="1614157"/>
            <a:ext cx="8841963" cy="1706227"/>
          </a:xfrm>
        </p:spPr>
        <p:txBody>
          <a:bodyPr lIns="0" rIns="457200" anchor="b" anchorCtr="0"/>
          <a:lstStyle>
            <a:lvl1pPr algn="l">
              <a:defRPr sz="5335" b="0" cap="all" spc="133" baseline="0"/>
            </a:lvl1pPr>
          </a:lstStyle>
          <a:p>
            <a:r>
              <a:rPr lang="en-US" dirty="0"/>
              <a:t>Click to edit Thank you Title</a:t>
            </a:r>
          </a:p>
        </p:txBody>
      </p:sp>
      <p:sp>
        <p:nvSpPr>
          <p:cNvPr id="20" name="Text Placeholder 2"/>
          <p:cNvSpPr>
            <a:spLocks noGrp="1"/>
          </p:cNvSpPr>
          <p:nvPr>
            <p:ph type="body" idx="1"/>
          </p:nvPr>
        </p:nvSpPr>
        <p:spPr>
          <a:xfrm>
            <a:off x="1348368" y="3799944"/>
            <a:ext cx="8841963" cy="1358157"/>
          </a:xfrm>
        </p:spPr>
        <p:txBody>
          <a:bodyPr lIns="0" rIns="457200" anchor="t" anchorCtr="0">
            <a:normAutofit/>
          </a:bodyPr>
          <a:lstStyle>
            <a:lvl1pPr marL="0" indent="0">
              <a:buNone/>
              <a:defRPr sz="3735" baseline="0">
                <a:solidFill>
                  <a:srgbClr val="545454"/>
                </a:solidFill>
              </a:defRPr>
            </a:lvl1pPr>
            <a:lvl2pPr marL="609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3pPr>
            <a:lvl4pPr marL="18288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4pPr>
            <a:lvl5pPr marL="24384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5pPr>
            <a:lvl6pPr marL="30480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6pPr>
            <a:lvl7pPr marL="36576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7pPr>
            <a:lvl8pPr marL="42672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8pPr>
            <a:lvl9pPr marL="48768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3421719"/>
            <a:ext cx="1243584" cy="328315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0" name="Rectangle 9"/>
          <p:cNvSpPr/>
          <p:nvPr/>
        </p:nvSpPr>
        <p:spPr>
          <a:xfrm>
            <a:off x="1309953" y="3421719"/>
            <a:ext cx="8900160" cy="328315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3095" y="5770104"/>
            <a:ext cx="2153835" cy="413763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342925" y="5948707"/>
            <a:ext cx="10850880" cy="7686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6" name="Rectangle 5"/>
          <p:cNvSpPr/>
          <p:nvPr/>
        </p:nvSpPr>
        <p:spPr>
          <a:xfrm>
            <a:off x="-10385" y="5948707"/>
            <a:ext cx="1292351" cy="7686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451620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Header Style is Arial 38pt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706880"/>
            <a:ext cx="10972800" cy="41546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90011" y="6137824"/>
            <a:ext cx="4366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65">
                <a:solidFill>
                  <a:srgbClr val="EEEEEE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endParaRPr lang="zh-CN" altLang="en-US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2"/>
          </p:nvPr>
        </p:nvSpPr>
        <p:spPr>
          <a:xfrm>
            <a:off x="5956739" y="6137824"/>
            <a:ext cx="16934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65">
                <a:solidFill>
                  <a:srgbClr val="EEEEEE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fld id="{62F4A369-E186-451F-B48A-C93F5E8F6D43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181061" y="6138688"/>
            <a:ext cx="8570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B83163ED-242A-435D-AF32-93DF19B59BB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Rectangle 9"/>
          <p:cNvSpPr/>
          <p:nvPr/>
        </p:nvSpPr>
        <p:spPr>
          <a:xfrm>
            <a:off x="-10385" y="5948707"/>
            <a:ext cx="1292351" cy="768652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50401" y="6123054"/>
            <a:ext cx="2233913" cy="41959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hdr="0" ftr="0" dt="0"/>
  <p:txStyles>
    <p:titleStyle>
      <a:lvl1pPr algn="l" defTabSz="609600" rtl="0" eaLnBrk="1" latinLnBrk="0" hangingPunct="1">
        <a:spcBef>
          <a:spcPct val="0"/>
        </a:spcBef>
        <a:buNone/>
        <a:defRPr sz="5065" b="0" kern="1200">
          <a:solidFill>
            <a:srgbClr val="00274C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609600" rtl="0" eaLnBrk="1" latinLnBrk="0" hangingPunct="1">
        <a:spcBef>
          <a:spcPct val="20000"/>
        </a:spcBef>
        <a:buFont typeface="Arial" panose="020B0604020202020204"/>
        <a:buChar char="•"/>
        <a:defRPr sz="4265" kern="1200">
          <a:solidFill>
            <a:srgbClr val="545454"/>
          </a:solidFill>
          <a:latin typeface="+mn-lt"/>
          <a:ea typeface="+mn-ea"/>
          <a:cs typeface="+mn-cs"/>
        </a:defRPr>
      </a:lvl1pPr>
      <a:lvl2pPr marL="990600" indent="-381000" algn="l" defTabSz="609600" rtl="0" eaLnBrk="1" latinLnBrk="0" hangingPunct="1">
        <a:spcBef>
          <a:spcPct val="20000"/>
        </a:spcBef>
        <a:buFont typeface="Arial" panose="020B0604020202020204"/>
        <a:buChar char="–"/>
        <a:defRPr sz="3735" kern="1200">
          <a:solidFill>
            <a:srgbClr val="545454"/>
          </a:solidFill>
          <a:latin typeface="+mn-lt"/>
          <a:ea typeface="+mn-ea"/>
          <a:cs typeface="+mn-cs"/>
        </a:defRPr>
      </a:lvl2pPr>
      <a:lvl3pPr marL="1524000" indent="-304800" algn="l" defTabSz="6096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rgbClr val="545454"/>
          </a:solidFill>
          <a:latin typeface="+mn-lt"/>
          <a:ea typeface="+mn-ea"/>
          <a:cs typeface="+mn-cs"/>
        </a:defRPr>
      </a:lvl3pPr>
      <a:lvl4pPr marL="2133600" indent="-304800" algn="l" defTabSz="609600" rtl="0" eaLnBrk="1" latinLnBrk="0" hangingPunct="1">
        <a:spcBef>
          <a:spcPct val="20000"/>
        </a:spcBef>
        <a:buFont typeface="Arial" panose="020B0604020202020204"/>
        <a:buChar char="–"/>
        <a:defRPr sz="2665" kern="1200">
          <a:solidFill>
            <a:srgbClr val="545454"/>
          </a:solidFill>
          <a:latin typeface="+mn-lt"/>
          <a:ea typeface="+mn-ea"/>
          <a:cs typeface="+mn-cs"/>
        </a:defRPr>
      </a:lvl4pPr>
      <a:lvl5pPr marL="2743200" indent="-304800" algn="l" defTabSz="609600" rtl="0" eaLnBrk="1" latinLnBrk="0" hangingPunct="1">
        <a:spcBef>
          <a:spcPct val="20000"/>
        </a:spcBef>
        <a:buFont typeface="Arial" panose="020B0604020202020204"/>
        <a:buChar char="»"/>
        <a:defRPr sz="2665" kern="1200">
          <a:solidFill>
            <a:srgbClr val="545454"/>
          </a:solidFill>
          <a:latin typeface="+mn-lt"/>
          <a:ea typeface="+mn-ea"/>
          <a:cs typeface="+mn-cs"/>
        </a:defRPr>
      </a:lvl5pPr>
      <a:lvl6pPr marL="3352800" indent="-304800" algn="l" defTabSz="609600" rtl="0" eaLnBrk="1" latinLnBrk="0" hangingPunct="1">
        <a:spcBef>
          <a:spcPct val="20000"/>
        </a:spcBef>
        <a:buFont typeface="Arial" panose="020B0604020202020204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609600" rtl="0" eaLnBrk="1" latinLnBrk="0" hangingPunct="1">
        <a:spcBef>
          <a:spcPct val="20000"/>
        </a:spcBef>
        <a:buFont typeface="Arial" panose="020B0604020202020204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609600" rtl="0" eaLnBrk="1" latinLnBrk="0" hangingPunct="1">
        <a:spcBef>
          <a:spcPct val="20000"/>
        </a:spcBef>
        <a:buFont typeface="Arial" panose="020B0604020202020204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609600" rtl="0" eaLnBrk="1" latinLnBrk="0" hangingPunct="1">
        <a:spcBef>
          <a:spcPct val="20000"/>
        </a:spcBef>
        <a:buFont typeface="Arial" panose="020B0604020202020204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6096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6096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6096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6096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6096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6096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6096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6096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AI for CHEM </a:t>
            </a:r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第四次讨论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>
                <a:cs typeface="+mn-ea"/>
                <a:sym typeface="+mn-lt"/>
              </a:rPr>
              <a:t>4</a:t>
            </a:r>
            <a:r>
              <a:rPr lang="en-US" altLang="zh-CN" baseline="30000" dirty="0">
                <a:cs typeface="+mn-ea"/>
                <a:sym typeface="+mn-lt"/>
              </a:rPr>
              <a:t>th</a:t>
            </a:r>
            <a:r>
              <a:rPr lang="en-US" altLang="zh-CN" dirty="0">
                <a:cs typeface="+mn-ea"/>
                <a:sym typeface="+mn-lt"/>
              </a:rPr>
              <a:t> 2026/10/15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83163ED-242A-435D-AF32-93DF19B59BB7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0F6DDBD-D656-41C0-9BC8-2A82A1F25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163ED-242A-435D-AF32-93DF19B59BB7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BF3BC1A2-107F-42D7-B997-06412B256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4522" y="472071"/>
            <a:ext cx="3862981" cy="584775"/>
          </a:xfrm>
        </p:spPr>
        <p:txBody>
          <a:bodyPr/>
          <a:lstStyle/>
          <a:p>
            <a:pPr algn="ctr"/>
            <a:r>
              <a:rPr lang="zh-CN" altLang="en-US" b="1" dirty="0"/>
              <a:t>机器学习与人工智能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6A7EEAD-F351-4CE1-A9E1-9E3FF9B411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829" y="1241069"/>
            <a:ext cx="7772400" cy="4375861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9DB6F3A4-986B-4B43-A9BC-CB72CCD3B3D2}"/>
              </a:ext>
            </a:extLst>
          </p:cNvPr>
          <p:cNvSpPr txBox="1"/>
          <p:nvPr/>
        </p:nvSpPr>
        <p:spPr>
          <a:xfrm>
            <a:off x="8410576" y="1241069"/>
            <a:ext cx="203834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/>
              <a:t>数学</a:t>
            </a:r>
            <a:endParaRPr lang="en-US" altLang="zh-CN" sz="2400" b="1" dirty="0"/>
          </a:p>
          <a:p>
            <a:r>
              <a:rPr lang="zh-CN" altLang="en-US" sz="2400" b="1" dirty="0"/>
              <a:t>心理学</a:t>
            </a:r>
            <a:endParaRPr lang="en-US" altLang="zh-CN" sz="2400" b="1" dirty="0"/>
          </a:p>
          <a:p>
            <a:r>
              <a:rPr lang="zh-CN" altLang="en-US" sz="2400" b="1" dirty="0"/>
              <a:t>电气工程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8B4BC80-ED59-4F27-90FD-1D2E6F54A9A9}"/>
              </a:ext>
            </a:extLst>
          </p:cNvPr>
          <p:cNvSpPr txBox="1"/>
          <p:nvPr/>
        </p:nvSpPr>
        <p:spPr>
          <a:xfrm>
            <a:off x="8410576" y="3428999"/>
            <a:ext cx="327659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b="1" dirty="0"/>
              <a:t>机器实现数学和逻辑运算</a:t>
            </a:r>
            <a:endParaRPr lang="en-US" altLang="zh-CN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b="1" dirty="0"/>
              <a:t>人类心智与意志的本质</a:t>
            </a:r>
            <a:endParaRPr lang="en-US" altLang="zh-CN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b="1" dirty="0"/>
              <a:t>大规模工程运筹和组织调配</a:t>
            </a:r>
          </a:p>
        </p:txBody>
      </p:sp>
    </p:spTree>
    <p:extLst>
      <p:ext uri="{BB962C8B-B14F-4D97-AF65-F5344CB8AC3E}">
        <p14:creationId xmlns:p14="http://schemas.microsoft.com/office/powerpoint/2010/main" val="38140262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C5B6259-A4CA-48FA-91B7-2E29A794E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163ED-242A-435D-AF32-93DF19B59BB7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ABDA2FDE-59F4-40A1-BB54-72AC1F980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6047" y="472071"/>
            <a:ext cx="5559920" cy="584775"/>
          </a:xfrm>
        </p:spPr>
        <p:txBody>
          <a:bodyPr/>
          <a:lstStyle/>
          <a:p>
            <a:pPr algn="ctr"/>
            <a:r>
              <a:rPr lang="zh-CN" altLang="en-US" b="1" dirty="0"/>
              <a:t>人工智能：</a:t>
            </a:r>
            <a:r>
              <a:rPr lang="en-US" altLang="zh-CN" b="1" dirty="0"/>
              <a:t>1956</a:t>
            </a:r>
            <a:r>
              <a:rPr lang="zh-CN" altLang="en-US" b="1" dirty="0"/>
              <a:t>达特茅斯会议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F965ECA-B37F-4F2B-838F-193A3B7073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4" y="1256871"/>
            <a:ext cx="6368614" cy="407778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01096C6-E199-4247-BF81-E1CE0B77B2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5646" y="1543704"/>
            <a:ext cx="4781550" cy="379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7872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BF6AB30-A253-47CC-90ED-F7B800F81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163ED-242A-435D-AF32-93DF19B59BB7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5AE3F726-C6F0-465D-9D53-D8D2F8DCE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7567" y="472071"/>
            <a:ext cx="2636876" cy="584775"/>
          </a:xfrm>
        </p:spPr>
        <p:txBody>
          <a:bodyPr/>
          <a:lstStyle/>
          <a:p>
            <a:pPr algn="ctr"/>
            <a:r>
              <a:rPr lang="zh-CN" altLang="en-US" b="1" dirty="0"/>
              <a:t>机器学习类别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90BF62E-4E63-461E-84D0-097AD06699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373" y="1100098"/>
            <a:ext cx="4657802" cy="465780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C8C960D6-AA80-4BAB-8212-E613E233EA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119" y="1131833"/>
            <a:ext cx="3619498" cy="4594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5575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8A1FF3A-B152-4B91-8A2C-67764CF03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163ED-242A-435D-AF32-93DF19B59BB7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3AE571E3-DEE0-4E89-B8F4-560E0302F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81923" y="472071"/>
            <a:ext cx="2228174" cy="584775"/>
          </a:xfrm>
        </p:spPr>
        <p:txBody>
          <a:bodyPr/>
          <a:lstStyle/>
          <a:p>
            <a:pPr algn="ctr"/>
            <a:r>
              <a:rPr lang="zh-CN" altLang="en-US" b="1" dirty="0"/>
              <a:t>特征与标签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A1E3F6F-B841-4E55-8126-4A9B3411EE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8370" y="1217247"/>
            <a:ext cx="6635259" cy="4423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9093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82E8F2B-AEFB-4A4E-A83B-453BF547E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163ED-242A-435D-AF32-93DF19B59BB7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AB8F1FD9-A70E-40F6-9D9E-EB4B0C0FD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3544" y="472071"/>
            <a:ext cx="2264915" cy="584775"/>
          </a:xfrm>
        </p:spPr>
        <p:txBody>
          <a:bodyPr/>
          <a:lstStyle/>
          <a:p>
            <a:pPr algn="ctr"/>
            <a:r>
              <a:rPr lang="zh-CN" altLang="en-US" b="1" dirty="0"/>
              <a:t>公式与模型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F29794C-AEAE-4AF5-BEB1-B5F1F316F82E}"/>
              </a:ext>
            </a:extLst>
          </p:cNvPr>
          <p:cNvSpPr txBox="1"/>
          <p:nvPr/>
        </p:nvSpPr>
        <p:spPr>
          <a:xfrm>
            <a:off x="481281" y="1279212"/>
            <a:ext cx="5187460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 dirty="0"/>
              <a:t>公式：公理的演绎推理</a:t>
            </a:r>
            <a:endParaRPr lang="en-US" altLang="zh-CN" sz="3200" b="1" dirty="0"/>
          </a:p>
          <a:p>
            <a:endParaRPr lang="en-US" altLang="zh-CN" b="1" dirty="0"/>
          </a:p>
          <a:p>
            <a:endParaRPr lang="en-US" altLang="zh-CN" b="1" dirty="0"/>
          </a:p>
          <a:p>
            <a:r>
              <a:rPr lang="zh-CN" altLang="en-US" b="1" dirty="0"/>
              <a:t>质量守恒定律</a:t>
            </a:r>
            <a:r>
              <a:rPr lang="zh-CN" altLang="en-US" dirty="0"/>
              <a:t>：化学反应的本质是原子的重新组合，原子既不能被创造，也不能被消灭。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b="1" dirty="0"/>
              <a:t>定比定律与倍比定律</a:t>
            </a:r>
            <a:r>
              <a:rPr lang="zh-CN" altLang="en-US" dirty="0"/>
              <a:t>：每一种纯净的化合物，其组成元素的质量比永远是固定的；若两元素形成多种化合物，固定其中一元素的质量，另一元素在不同化合物中的质量成简单整数比。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b="1" dirty="0"/>
              <a:t>能量守恒定律</a:t>
            </a:r>
            <a:r>
              <a:rPr lang="zh-CN" altLang="en-US" dirty="0"/>
              <a:t>：化学反应伴随着能量的变化（吸热或放热），但总能量在反应前后保持守恒。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576BD04-49F4-42FC-B095-54833D0494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3265" y="1863987"/>
            <a:ext cx="3376246" cy="3376246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F18CCA96-AB0E-4D01-B66C-8EDF5B27B27A}"/>
              </a:ext>
            </a:extLst>
          </p:cNvPr>
          <p:cNvSpPr txBox="1"/>
          <p:nvPr/>
        </p:nvSpPr>
        <p:spPr>
          <a:xfrm>
            <a:off x="6318738" y="1279212"/>
            <a:ext cx="43053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 dirty="0"/>
              <a:t>模型：经验的归纳总结</a:t>
            </a:r>
            <a:endParaRPr lang="en-US" altLang="zh-CN" sz="3200" b="1" dirty="0"/>
          </a:p>
        </p:txBody>
      </p:sp>
    </p:spTree>
    <p:extLst>
      <p:ext uri="{BB962C8B-B14F-4D97-AF65-F5344CB8AC3E}">
        <p14:creationId xmlns:p14="http://schemas.microsoft.com/office/powerpoint/2010/main" val="31463372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57200" y="1197576"/>
            <a:ext cx="540067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# </a:t>
            </a:r>
            <a:r>
              <a:rPr lang="zh-CN" altLang="en-US" b="1" dirty="0"/>
              <a:t>开场</a:t>
            </a:r>
            <a:r>
              <a:rPr lang="zh-CN" altLang="en-US" dirty="0"/>
              <a:t>：约</a:t>
            </a:r>
            <a:r>
              <a:rPr lang="en-US" altLang="zh-CN" dirty="0"/>
              <a:t>2-3</a:t>
            </a:r>
            <a:r>
              <a:rPr lang="zh-CN" altLang="en-US" dirty="0"/>
              <a:t>分钟</a:t>
            </a:r>
          </a:p>
          <a:p>
            <a:endParaRPr lang="zh-CN" altLang="en-US" dirty="0"/>
          </a:p>
          <a:p>
            <a:r>
              <a:rPr lang="en-US" altLang="zh-CN" b="1" dirty="0"/>
              <a:t># </a:t>
            </a:r>
            <a:r>
              <a:rPr lang="zh-CN" altLang="en-US" b="1" dirty="0"/>
              <a:t>问题分享</a:t>
            </a:r>
            <a:r>
              <a:rPr lang="zh-CN" altLang="en-US" dirty="0"/>
              <a:t>：每人约</a:t>
            </a:r>
            <a:r>
              <a:rPr lang="en-US" altLang="zh-CN" dirty="0"/>
              <a:t>3</a:t>
            </a:r>
            <a:r>
              <a:rPr lang="zh-CN" altLang="en-US" dirty="0"/>
              <a:t>分钟，挑选一个问题回答</a:t>
            </a:r>
            <a:endParaRPr lang="en-US" altLang="zh-CN" dirty="0"/>
          </a:p>
          <a:p>
            <a:endParaRPr lang="zh-CN" altLang="en-US" dirty="0"/>
          </a:p>
          <a:p>
            <a:r>
              <a:rPr lang="en-US" altLang="zh-CN" b="1" dirty="0"/>
              <a:t># </a:t>
            </a:r>
            <a:r>
              <a:rPr lang="zh-CN" altLang="en-US" b="1" dirty="0"/>
              <a:t>集体讨论</a:t>
            </a:r>
            <a:r>
              <a:rPr lang="zh-CN" altLang="en-US" dirty="0"/>
              <a:t>：约</a:t>
            </a:r>
            <a:r>
              <a:rPr lang="en-US" altLang="zh-CN" dirty="0"/>
              <a:t>15</a:t>
            </a:r>
            <a:r>
              <a:rPr lang="zh-CN" altLang="en-US" dirty="0"/>
              <a:t>分钟，学习中的问题等</a:t>
            </a:r>
            <a:endParaRPr lang="en-US" altLang="zh-CN" dirty="0"/>
          </a:p>
          <a:p>
            <a:endParaRPr lang="zh-CN" altLang="en-US" dirty="0"/>
          </a:p>
          <a:p>
            <a:r>
              <a:rPr lang="en-US" altLang="zh-CN" b="1" dirty="0"/>
              <a:t># </a:t>
            </a:r>
            <a:r>
              <a:rPr lang="zh-CN" altLang="en-US" b="1" dirty="0"/>
              <a:t>发言顺序</a:t>
            </a:r>
            <a:r>
              <a:rPr lang="zh-CN" altLang="en-US" dirty="0"/>
              <a:t>：吴、迪、袁、杨、李 （随机生成）</a:t>
            </a:r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5186267" y="472071"/>
            <a:ext cx="1819472" cy="584775"/>
          </a:xfrm>
        </p:spPr>
        <p:txBody>
          <a:bodyPr/>
          <a:lstStyle/>
          <a:p>
            <a:pPr algn="ctr"/>
            <a:r>
              <a:rPr lang="zh-CN" altLang="en-US" b="1" dirty="0"/>
              <a:t>讨论流程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163ED-242A-435D-AF32-93DF19B59BB7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B63B080-6E6A-4A61-A75F-122AF5E5EFCF}"/>
              </a:ext>
            </a:extLst>
          </p:cNvPr>
          <p:cNvSpPr txBox="1"/>
          <p:nvPr/>
        </p:nvSpPr>
        <p:spPr>
          <a:xfrm>
            <a:off x="5503985" y="1056846"/>
            <a:ext cx="6230815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0" dirty="0">
                <a:effectLst/>
                <a:latin typeface="Consolas" panose="020B0609020204030204" pitchFamily="49" charset="0"/>
              </a:rPr>
              <a:t>-</a:t>
            </a:r>
            <a:r>
              <a:rPr lang="zh-CN" altLang="en-US" sz="1600" b="0" dirty="0">
                <a:effectLst/>
                <a:latin typeface="Consolas" panose="020B0609020204030204" pitchFamily="49" charset="0"/>
              </a:rPr>
              <a:t> 人工智能、机器学习、神经网络、深度学习，这四个词是什么关系？谁能包含谁？</a:t>
            </a:r>
          </a:p>
          <a:p>
            <a:pPr marL="285750" indent="-285750">
              <a:buFontTx/>
              <a:buChar char="-"/>
            </a:pPr>
            <a:r>
              <a:rPr lang="zh-CN" altLang="en-US" sz="1600" b="0" dirty="0">
                <a:effectLst/>
                <a:latin typeface="Consolas" panose="020B0609020204030204" pitchFamily="49" charset="0"/>
              </a:rPr>
              <a:t>挑一个你听说过的 </a:t>
            </a:r>
            <a:r>
              <a:rPr lang="en-US" altLang="zh-CN" sz="1600" b="0" dirty="0">
                <a:effectLst/>
                <a:latin typeface="Consolas" panose="020B0609020204030204" pitchFamily="49" charset="0"/>
              </a:rPr>
              <a:t>AI </a:t>
            </a:r>
            <a:r>
              <a:rPr lang="zh-CN" altLang="en-US" sz="1600" b="0" dirty="0">
                <a:effectLst/>
                <a:latin typeface="Consolas" panose="020B0609020204030204" pitchFamily="49" charset="0"/>
              </a:rPr>
              <a:t>应用</a:t>
            </a:r>
            <a:r>
              <a:rPr lang="zh-CN" altLang="en-US" sz="1600" dirty="0">
                <a:latin typeface="Consolas" panose="020B0609020204030204" pitchFamily="49" charset="0"/>
              </a:rPr>
              <a:t>，</a:t>
            </a:r>
            <a:r>
              <a:rPr lang="zh-CN" altLang="en-US" sz="1600" b="0" dirty="0">
                <a:effectLst/>
                <a:latin typeface="Consolas" panose="020B0609020204030204" pitchFamily="49" charset="0"/>
              </a:rPr>
              <a:t>说说它属于哪一层，为什么？</a:t>
            </a:r>
            <a:endParaRPr lang="en-US" altLang="zh-CN" sz="1600" b="0" dirty="0">
              <a:effectLst/>
              <a:latin typeface="Consolas" panose="020B0609020204030204" pitchFamily="49" charset="0"/>
            </a:endParaRPr>
          </a:p>
          <a:p>
            <a:endParaRPr lang="en-US" altLang="zh-CN" sz="1600" dirty="0"/>
          </a:p>
          <a:p>
            <a:pPr marL="285750" indent="-285750">
              <a:buFontTx/>
              <a:buChar char="-"/>
            </a:pPr>
            <a:r>
              <a:rPr lang="zh-CN" altLang="en-US" sz="1600" b="0" dirty="0">
                <a:effectLst/>
                <a:latin typeface="Consolas" panose="020B0609020204030204" pitchFamily="49" charset="0"/>
              </a:rPr>
              <a:t>符号主义和联结主义分别是怎么</a:t>
            </a:r>
            <a:r>
              <a:rPr lang="en-US" altLang="zh-CN" sz="1600" b="0" dirty="0">
                <a:effectLst/>
                <a:latin typeface="Consolas" panose="020B0609020204030204" pitchFamily="49" charset="0"/>
              </a:rPr>
              <a:t>"</a:t>
            </a:r>
            <a:r>
              <a:rPr lang="zh-CN" altLang="en-US" sz="1600" b="0" dirty="0">
                <a:effectLst/>
                <a:latin typeface="Consolas" panose="020B0609020204030204" pitchFamily="49" charset="0"/>
              </a:rPr>
              <a:t>实现智能</a:t>
            </a:r>
            <a:r>
              <a:rPr lang="en-US" altLang="zh-CN" sz="1600" b="0" dirty="0">
                <a:effectLst/>
                <a:latin typeface="Consolas" panose="020B0609020204030204" pitchFamily="49" charset="0"/>
              </a:rPr>
              <a:t>"</a:t>
            </a:r>
            <a:r>
              <a:rPr lang="zh-CN" altLang="en-US" sz="1600" b="0" dirty="0">
                <a:effectLst/>
                <a:latin typeface="Consolas" panose="020B0609020204030204" pitchFamily="49" charset="0"/>
              </a:rPr>
              <a:t>的？各举一个代表方法，说说两者的优缺点。</a:t>
            </a:r>
            <a:endParaRPr lang="en-US" altLang="zh-CN" sz="1600" b="0" dirty="0">
              <a:effectLst/>
              <a:latin typeface="Consolas" panose="020B0609020204030204" pitchFamily="49" charset="0"/>
            </a:endParaRPr>
          </a:p>
          <a:p>
            <a:pPr marL="285750" indent="-285750">
              <a:buFontTx/>
              <a:buChar char="-"/>
            </a:pPr>
            <a:r>
              <a:rPr lang="zh-CN" altLang="en-US" sz="1600" b="0" dirty="0">
                <a:effectLst/>
                <a:latin typeface="Consolas" panose="020B0609020204030204" pitchFamily="49" charset="0"/>
              </a:rPr>
              <a:t>在化学和生物研究里找一找：哪些工具更像</a:t>
            </a:r>
            <a:r>
              <a:rPr lang="en-US" altLang="zh-CN" sz="1600" b="0" dirty="0">
                <a:effectLst/>
                <a:latin typeface="Consolas" panose="020B0609020204030204" pitchFamily="49" charset="0"/>
              </a:rPr>
              <a:t>"</a:t>
            </a:r>
            <a:r>
              <a:rPr lang="zh-CN" altLang="en-US" sz="1600" b="0" dirty="0">
                <a:effectLst/>
                <a:latin typeface="Consolas" panose="020B0609020204030204" pitchFamily="49" charset="0"/>
              </a:rPr>
              <a:t>符号主义</a:t>
            </a:r>
            <a:r>
              <a:rPr lang="en-US" altLang="zh-CN" sz="1600" b="0" dirty="0">
                <a:effectLst/>
                <a:latin typeface="Consolas" panose="020B0609020204030204" pitchFamily="49" charset="0"/>
              </a:rPr>
              <a:t>"</a:t>
            </a:r>
            <a:r>
              <a:rPr lang="zh-CN" altLang="en-US" sz="1600" b="0" dirty="0">
                <a:effectLst/>
                <a:latin typeface="Consolas" panose="020B0609020204030204" pitchFamily="49" charset="0"/>
              </a:rPr>
              <a:t>，哪些更像</a:t>
            </a:r>
            <a:r>
              <a:rPr lang="en-US" altLang="zh-CN" sz="1600" b="0" dirty="0">
                <a:effectLst/>
                <a:latin typeface="Consolas" panose="020B0609020204030204" pitchFamily="49" charset="0"/>
              </a:rPr>
              <a:t>"</a:t>
            </a:r>
            <a:r>
              <a:rPr lang="zh-CN" altLang="en-US" sz="1600" b="0" dirty="0">
                <a:effectLst/>
                <a:latin typeface="Consolas" panose="020B0609020204030204" pitchFamily="49" charset="0"/>
              </a:rPr>
              <a:t>联结主义</a:t>
            </a:r>
            <a:r>
              <a:rPr lang="en-US" altLang="zh-CN" sz="1600" b="0" dirty="0">
                <a:effectLst/>
                <a:latin typeface="Consolas" panose="020B0609020204030204" pitchFamily="49" charset="0"/>
              </a:rPr>
              <a:t>"</a:t>
            </a:r>
            <a:r>
              <a:rPr lang="zh-CN" altLang="en-US" sz="1600" b="0" dirty="0">
                <a:effectLst/>
                <a:latin typeface="Consolas" panose="020B0609020204030204" pitchFamily="49" charset="0"/>
              </a:rPr>
              <a:t>？</a:t>
            </a:r>
            <a:endParaRPr lang="en-US" altLang="zh-CN" sz="1600" b="0" dirty="0">
              <a:effectLst/>
              <a:latin typeface="Consolas" panose="020B0609020204030204" pitchFamily="49" charset="0"/>
            </a:endParaRPr>
          </a:p>
          <a:p>
            <a:pPr marL="285750" indent="-285750">
              <a:buFontTx/>
              <a:buChar char="-"/>
            </a:pPr>
            <a:endParaRPr lang="en-US" altLang="zh-CN" sz="1600" dirty="0"/>
          </a:p>
          <a:p>
            <a:r>
              <a:rPr lang="en-US" altLang="zh-CN" sz="1600" b="0" dirty="0">
                <a:effectLst/>
                <a:latin typeface="Consolas" panose="020B0609020204030204" pitchFamily="49" charset="0"/>
              </a:rPr>
              <a:t>-</a:t>
            </a:r>
            <a:r>
              <a:rPr lang="zh-CN" altLang="en-US" sz="1600" b="0" dirty="0">
                <a:effectLst/>
                <a:latin typeface="Consolas" panose="020B0609020204030204" pitchFamily="49" charset="0"/>
              </a:rPr>
              <a:t> 监督学习和非监督学习的区别是什么？</a:t>
            </a:r>
          </a:p>
          <a:p>
            <a:pPr marL="285750" indent="-285750">
              <a:buFontTx/>
              <a:buChar char="-"/>
            </a:pPr>
            <a:r>
              <a:rPr lang="zh-CN" altLang="en-US" sz="1600" b="0" dirty="0">
                <a:effectLst/>
                <a:latin typeface="Consolas" panose="020B0609020204030204" pitchFamily="49" charset="0"/>
              </a:rPr>
              <a:t>回归和分类的区别是什么？结合你的研究里找一个适合监督学习的问题：它的特征是什么？标签是什么？属于回归还是分类？</a:t>
            </a:r>
            <a:endParaRPr lang="en-US" altLang="zh-CN" sz="1600" b="0" dirty="0">
              <a:effectLst/>
              <a:latin typeface="Consolas" panose="020B0609020204030204" pitchFamily="49" charset="0"/>
            </a:endParaRPr>
          </a:p>
          <a:p>
            <a:pPr marL="285750" indent="-285750">
              <a:buFontTx/>
              <a:buChar char="-"/>
            </a:pPr>
            <a:endParaRPr lang="en-US" altLang="zh-CN" sz="1600" dirty="0"/>
          </a:p>
          <a:p>
            <a:r>
              <a:rPr lang="en-US" altLang="zh-CN" sz="1600" b="0" dirty="0">
                <a:effectLst/>
                <a:latin typeface="Consolas" panose="020B0609020204030204" pitchFamily="49" charset="0"/>
              </a:rPr>
              <a:t>-</a:t>
            </a:r>
            <a:r>
              <a:rPr lang="zh-CN" altLang="en-US" sz="1600" b="0" dirty="0">
                <a:effectLst/>
                <a:latin typeface="Consolas" panose="020B0609020204030204" pitchFamily="49" charset="0"/>
              </a:rPr>
              <a:t> 什么是</a:t>
            </a:r>
            <a:r>
              <a:rPr lang="en-US" altLang="zh-CN" sz="1600" b="0" dirty="0">
                <a:effectLst/>
                <a:latin typeface="Consolas" panose="020B0609020204030204" pitchFamily="49" charset="0"/>
              </a:rPr>
              <a:t>"</a:t>
            </a:r>
            <a:r>
              <a:rPr lang="zh-CN" altLang="en-US" sz="1600" b="0" dirty="0">
                <a:effectLst/>
                <a:latin typeface="Consolas" panose="020B0609020204030204" pitchFamily="49" charset="0"/>
              </a:rPr>
              <a:t>模型</a:t>
            </a:r>
            <a:r>
              <a:rPr lang="en-US" altLang="zh-CN" sz="1600" b="0" dirty="0">
                <a:effectLst/>
                <a:latin typeface="Consolas" panose="020B0609020204030204" pitchFamily="49" charset="0"/>
              </a:rPr>
              <a:t>"</a:t>
            </a:r>
            <a:r>
              <a:rPr lang="zh-CN" altLang="en-US" sz="1600" b="0" dirty="0">
                <a:effectLst/>
                <a:latin typeface="Consolas" panose="020B0609020204030204" pitchFamily="49" charset="0"/>
              </a:rPr>
              <a:t>？它和物理化学里的公式有什么不一样？</a:t>
            </a:r>
          </a:p>
          <a:p>
            <a:pPr marL="285750" indent="-285750">
              <a:buFontTx/>
              <a:buChar char="-"/>
            </a:pPr>
            <a:r>
              <a:rPr lang="zh-CN" altLang="en-US" sz="1600" b="0" dirty="0">
                <a:effectLst/>
                <a:latin typeface="Consolas" panose="020B0609020204030204" pitchFamily="49" charset="0"/>
              </a:rPr>
              <a:t>认识三个简单模型：线性模型、决策树、</a:t>
            </a:r>
            <a:r>
              <a:rPr lang="en-US" altLang="zh-CN" sz="1600" b="0" dirty="0">
                <a:effectLst/>
                <a:latin typeface="Consolas" panose="020B0609020204030204" pitchFamily="49" charset="0"/>
              </a:rPr>
              <a:t>K </a:t>
            </a:r>
            <a:r>
              <a:rPr lang="zh-CN" altLang="en-US" sz="1600" b="0" dirty="0">
                <a:effectLst/>
                <a:latin typeface="Consolas" panose="020B0609020204030204" pitchFamily="49" charset="0"/>
              </a:rPr>
              <a:t>近邻，谈谈你的理解。</a:t>
            </a:r>
            <a:endParaRPr lang="en-US" altLang="zh-CN" sz="1600" b="0" dirty="0">
              <a:effectLst/>
              <a:latin typeface="Consolas" panose="020B0609020204030204" pitchFamily="49" charset="0"/>
            </a:endParaRPr>
          </a:p>
          <a:p>
            <a:pPr marL="285750" indent="-285750">
              <a:buFontTx/>
              <a:buChar char="-"/>
            </a:pPr>
            <a:endParaRPr lang="en-US" altLang="zh-CN" sz="1600" dirty="0"/>
          </a:p>
          <a:p>
            <a:pPr marL="285750" indent="-285750">
              <a:buFontTx/>
              <a:buChar char="-"/>
            </a:pPr>
            <a:r>
              <a:rPr lang="zh-CN" altLang="en-US" sz="1600" b="0" dirty="0">
                <a:effectLst/>
                <a:latin typeface="Consolas" panose="020B0609020204030204" pitchFamily="49" charset="0"/>
              </a:rPr>
              <a:t>怎么判断一个模型</a:t>
            </a:r>
            <a:r>
              <a:rPr lang="en-US" altLang="zh-CN" sz="1600" b="0" dirty="0">
                <a:effectLst/>
                <a:latin typeface="Consolas" panose="020B0609020204030204" pitchFamily="49" charset="0"/>
              </a:rPr>
              <a:t>"</a:t>
            </a:r>
            <a:r>
              <a:rPr lang="zh-CN" altLang="en-US" sz="1600" b="0" dirty="0">
                <a:effectLst/>
                <a:latin typeface="Consolas" panose="020B0609020204030204" pitchFamily="49" charset="0"/>
              </a:rPr>
              <a:t>学得好不好</a:t>
            </a:r>
            <a:r>
              <a:rPr lang="en-US" altLang="zh-CN" sz="1600" b="0" dirty="0">
                <a:effectLst/>
                <a:latin typeface="Consolas" panose="020B0609020204030204" pitchFamily="49" charset="0"/>
              </a:rPr>
              <a:t>"</a:t>
            </a:r>
            <a:r>
              <a:rPr lang="zh-CN" altLang="en-US" sz="1600" b="0" dirty="0">
                <a:effectLst/>
                <a:latin typeface="Consolas" panose="020B0609020204030204" pitchFamily="49" charset="0"/>
              </a:rPr>
              <a:t>？</a:t>
            </a:r>
          </a:p>
          <a:p>
            <a:r>
              <a:rPr lang="en-US" altLang="zh-CN" sz="1600" b="0" dirty="0">
                <a:effectLst/>
                <a:latin typeface="Consolas" panose="020B0609020204030204" pitchFamily="49" charset="0"/>
              </a:rPr>
              <a:t>-</a:t>
            </a:r>
            <a:r>
              <a:rPr lang="zh-CN" altLang="en-US" sz="1600" b="0" dirty="0">
                <a:effectLst/>
                <a:latin typeface="Consolas" panose="020B0609020204030204" pitchFamily="49" charset="0"/>
              </a:rPr>
              <a:t> 一个模型哪怕预测得再准，如果说不清</a:t>
            </a:r>
            <a:r>
              <a:rPr lang="en-US" altLang="zh-CN" sz="1600" b="0" dirty="0">
                <a:effectLst/>
                <a:latin typeface="Consolas" panose="020B0609020204030204" pitchFamily="49" charset="0"/>
              </a:rPr>
              <a:t>"</a:t>
            </a:r>
            <a:r>
              <a:rPr lang="zh-CN" altLang="en-US" sz="1600" b="0" dirty="0">
                <a:effectLst/>
                <a:latin typeface="Consolas" panose="020B0609020204030204" pitchFamily="49" charset="0"/>
              </a:rPr>
              <a:t>为什么</a:t>
            </a:r>
            <a:r>
              <a:rPr lang="en-US" altLang="zh-CN" sz="1600" b="0" dirty="0">
                <a:effectLst/>
                <a:latin typeface="Consolas" panose="020B0609020204030204" pitchFamily="49" charset="0"/>
              </a:rPr>
              <a:t>"</a:t>
            </a:r>
            <a:r>
              <a:rPr lang="zh-CN" altLang="en-US" sz="1600" b="0" dirty="0">
                <a:effectLst/>
                <a:latin typeface="Consolas" panose="020B0609020204030204" pitchFamily="49" charset="0"/>
              </a:rPr>
              <a:t>，你敢把它用在科研判断里吗？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5E421B7-B85F-4AFD-B6D8-28B5E52BA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163ED-242A-435D-AF32-93DF19B59BB7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7743683-F340-4BB6-931D-E05CE2EBB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1853" y="472071"/>
            <a:ext cx="2208298" cy="584775"/>
          </a:xfrm>
        </p:spPr>
        <p:txBody>
          <a:bodyPr/>
          <a:lstStyle/>
          <a:p>
            <a:pPr algn="ctr"/>
            <a:r>
              <a:rPr lang="en-US" altLang="zh-CN" b="1" dirty="0"/>
              <a:t>1</a:t>
            </a:r>
            <a:r>
              <a:rPr lang="en-US" altLang="zh-CN" b="1" baseline="30000" dirty="0"/>
              <a:t>st – </a:t>
            </a:r>
            <a:r>
              <a:rPr lang="en-US" altLang="zh-CN" b="1" dirty="0"/>
              <a:t>4</a:t>
            </a:r>
            <a:r>
              <a:rPr lang="en-US" altLang="zh-CN" b="1" baseline="30000" dirty="0"/>
              <a:t>th </a:t>
            </a:r>
            <a:r>
              <a:rPr lang="zh-CN" altLang="en-US" b="1" dirty="0"/>
              <a:t>总结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7DED94E-0FE6-4DFA-B499-D88D75A546BF}"/>
              </a:ext>
            </a:extLst>
          </p:cNvPr>
          <p:cNvSpPr txBox="1"/>
          <p:nvPr/>
        </p:nvSpPr>
        <p:spPr>
          <a:xfrm>
            <a:off x="604473" y="1056846"/>
            <a:ext cx="372413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线上</a:t>
            </a:r>
            <a:r>
              <a:rPr lang="en-US" altLang="zh-CN" b="1" dirty="0"/>
              <a:t>/</a:t>
            </a:r>
            <a:r>
              <a:rPr lang="zh-CN" altLang="en-US" b="1" dirty="0"/>
              <a:t>线下讨论转写记录：</a:t>
            </a:r>
            <a:r>
              <a:rPr lang="en-US" altLang="zh-CN" b="1" dirty="0"/>
              <a:t>3.5 </a:t>
            </a:r>
            <a:r>
              <a:rPr lang="zh-CN" altLang="en-US" b="1" dirty="0"/>
              <a:t>万字</a:t>
            </a:r>
            <a:endParaRPr lang="en-US" altLang="zh-CN" b="1" dirty="0"/>
          </a:p>
          <a:p>
            <a:r>
              <a:rPr lang="zh-CN" altLang="en-US" b="1" dirty="0"/>
              <a:t>笔记：</a:t>
            </a:r>
            <a:r>
              <a:rPr lang="en-US" altLang="zh-CN" b="1" dirty="0"/>
              <a:t>2.5 </a:t>
            </a:r>
            <a:r>
              <a:rPr lang="zh-CN" altLang="en-US" b="1" dirty="0"/>
              <a:t>万字</a:t>
            </a:r>
            <a:endParaRPr lang="en-US" altLang="zh-CN" b="1" dirty="0"/>
          </a:p>
          <a:p>
            <a:r>
              <a:rPr lang="zh-CN" altLang="en-US" b="1" dirty="0"/>
              <a:t>附加资料：</a:t>
            </a:r>
            <a:r>
              <a:rPr lang="en-US" altLang="zh-CN" b="1" dirty="0"/>
              <a:t>0.7 </a:t>
            </a:r>
            <a:r>
              <a:rPr lang="zh-CN" altLang="en-US" b="1" dirty="0"/>
              <a:t>万字</a:t>
            </a:r>
            <a:endParaRPr lang="en-US" altLang="zh-CN" b="1" dirty="0"/>
          </a:p>
          <a:p>
            <a:r>
              <a:rPr lang="zh-CN" altLang="en-US" b="1" dirty="0"/>
              <a:t>说明文档：</a:t>
            </a:r>
            <a:r>
              <a:rPr lang="en-US" altLang="zh-CN" b="1" dirty="0"/>
              <a:t>0.4 </a:t>
            </a:r>
            <a:r>
              <a:rPr lang="zh-CN" altLang="en-US" b="1" dirty="0"/>
              <a:t>万字</a:t>
            </a:r>
            <a:endParaRPr lang="en-US" altLang="zh-CN" b="1" dirty="0"/>
          </a:p>
          <a:p>
            <a:r>
              <a:rPr lang="zh-CN" altLang="en-US" b="1" dirty="0"/>
              <a:t>公开手册：</a:t>
            </a:r>
            <a:r>
              <a:rPr lang="en-US" altLang="zh-CN" b="1" dirty="0"/>
              <a:t>1.9 </a:t>
            </a:r>
            <a:r>
              <a:rPr lang="zh-CN" altLang="en-US" b="1" dirty="0"/>
              <a:t>万字</a:t>
            </a:r>
            <a:endParaRPr lang="en-US" altLang="zh-CN" b="1" dirty="0"/>
          </a:p>
          <a:p>
            <a:r>
              <a:rPr lang="en-US" altLang="zh-CN" b="1" dirty="0"/>
              <a:t>PPT</a:t>
            </a:r>
            <a:r>
              <a:rPr lang="zh-CN" altLang="en-US" b="1" dirty="0"/>
              <a:t>：</a:t>
            </a:r>
            <a:r>
              <a:rPr lang="en-US" altLang="zh-CN" b="1" dirty="0"/>
              <a:t>4 </a:t>
            </a:r>
            <a:r>
              <a:rPr lang="zh-CN" altLang="en-US" b="1" dirty="0"/>
              <a:t>份</a:t>
            </a:r>
            <a:endParaRPr lang="en-US" altLang="zh-CN" b="1" dirty="0"/>
          </a:p>
          <a:p>
            <a:r>
              <a:rPr lang="zh-CN" altLang="en-US" b="1" dirty="0"/>
              <a:t>网站：</a:t>
            </a:r>
            <a:r>
              <a:rPr lang="en-US" altLang="zh-CN" b="1" dirty="0"/>
              <a:t>1</a:t>
            </a:r>
            <a:r>
              <a:rPr lang="zh-CN" altLang="en-US" b="1" dirty="0"/>
              <a:t>个</a:t>
            </a:r>
            <a:endParaRPr lang="en-US" altLang="zh-CN" b="1" dirty="0"/>
          </a:p>
          <a:p>
            <a:endParaRPr lang="en-US" altLang="zh-CN" b="1" dirty="0"/>
          </a:p>
          <a:p>
            <a:r>
              <a:rPr lang="zh-CN" altLang="en-US" b="1" dirty="0"/>
              <a:t>合计：</a:t>
            </a:r>
            <a:r>
              <a:rPr lang="en-US" altLang="zh-CN" b="1" dirty="0"/>
              <a:t>11.7 </a:t>
            </a:r>
            <a:r>
              <a:rPr lang="zh-CN" altLang="en-US" b="1" dirty="0"/>
              <a:t>万字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62B10E6-5A96-406D-A11E-9476830E50E2}"/>
              </a:ext>
            </a:extLst>
          </p:cNvPr>
          <p:cNvSpPr txBox="1"/>
          <p:nvPr/>
        </p:nvSpPr>
        <p:spPr>
          <a:xfrm>
            <a:off x="4557348" y="1056846"/>
            <a:ext cx="7162800" cy="37824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/>
              <a:t>1</a:t>
            </a:r>
            <a:r>
              <a:rPr lang="en-US" altLang="zh-CN" b="1" baseline="30000" dirty="0"/>
              <a:t>st – </a:t>
            </a:r>
            <a:r>
              <a:rPr lang="en-US" altLang="zh-CN" b="1" dirty="0"/>
              <a:t>4</a:t>
            </a:r>
            <a:r>
              <a:rPr lang="en-US" altLang="zh-CN" b="1" baseline="30000" dirty="0"/>
              <a:t>th </a:t>
            </a:r>
            <a:r>
              <a:rPr lang="zh-CN" altLang="en-US" b="1" dirty="0"/>
              <a:t>的深度问题</a:t>
            </a:r>
            <a:endParaRPr lang="en-US" altLang="zh-CN" b="1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/>
              <a:t>计算机的本质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/>
              <a:t>计算机究竟怎样表示分子和材料？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dirty="0"/>
              <a:t>AI</a:t>
            </a:r>
            <a:r>
              <a:rPr lang="zh-CN" altLang="en-US" dirty="0"/>
              <a:t>、传统计算与实验之间是什么关系？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dirty="0"/>
              <a:t>AI </a:t>
            </a:r>
            <a:r>
              <a:rPr lang="zh-CN" altLang="en-US" dirty="0"/>
              <a:t>给出的预测和建议能相信多少？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/>
              <a:t>什么样的数据才能用于建模？数据质量和数量如何权衡？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dirty="0"/>
              <a:t>AI </a:t>
            </a:r>
            <a:r>
              <a:rPr lang="zh-CN" altLang="en-US" dirty="0"/>
              <a:t>节省了劳动，还是改变了劳动的位置与研究者的职责？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dirty="0"/>
              <a:t>AI</a:t>
            </a:r>
            <a:r>
              <a:rPr lang="zh-CN" altLang="en-US" dirty="0"/>
              <a:t>是在现有尺度上做得更多，还是让我们提出过去无法提出的问题？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105667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BE97177-9F48-4068-A1E1-3F965674D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163ED-242A-435D-AF32-93DF19B59BB7}" type="slidenum">
              <a:rPr lang="zh-CN" altLang="en-US" smtClean="0"/>
              <a:t>9</a:t>
            </a:fld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2CD52DBF-496A-4A42-8122-0E6A94405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1850" y="472071"/>
            <a:ext cx="2208298" cy="584775"/>
          </a:xfrm>
        </p:spPr>
        <p:txBody>
          <a:bodyPr/>
          <a:lstStyle/>
          <a:p>
            <a:pPr algn="ctr"/>
            <a:r>
              <a:rPr lang="en-US" altLang="zh-CN" b="1" dirty="0"/>
              <a:t>1</a:t>
            </a:r>
            <a:r>
              <a:rPr lang="en-US" altLang="zh-CN" b="1" baseline="30000" dirty="0"/>
              <a:t>st – </a:t>
            </a:r>
            <a:r>
              <a:rPr lang="en-US" altLang="zh-CN" b="1" dirty="0"/>
              <a:t>4</a:t>
            </a:r>
            <a:r>
              <a:rPr lang="en-US" altLang="zh-CN" b="1" baseline="30000" dirty="0"/>
              <a:t>th </a:t>
            </a:r>
            <a:r>
              <a:rPr lang="zh-CN" altLang="en-US" b="1" dirty="0"/>
              <a:t>总结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7B63FA2-E8BF-4FA1-8DF7-F2FBF6BB03AF}"/>
              </a:ext>
            </a:extLst>
          </p:cNvPr>
          <p:cNvSpPr txBox="1"/>
          <p:nvPr/>
        </p:nvSpPr>
        <p:spPr>
          <a:xfrm>
            <a:off x="4618672" y="4664510"/>
            <a:ext cx="2954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/>
              <a:t>集体参与，共同协作</a:t>
            </a:r>
            <a:endParaRPr lang="en-US" altLang="zh-CN" sz="2400" b="1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6C2D362-8646-45E9-8F2D-FCD85A04CBCE}"/>
              </a:ext>
            </a:extLst>
          </p:cNvPr>
          <p:cNvSpPr txBox="1"/>
          <p:nvPr/>
        </p:nvSpPr>
        <p:spPr>
          <a:xfrm>
            <a:off x="3669694" y="5275644"/>
            <a:ext cx="48526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一个人的成功是所有人的成功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75EE720-E997-4D53-8AE9-060003949841}"/>
              </a:ext>
            </a:extLst>
          </p:cNvPr>
          <p:cNvSpPr txBox="1"/>
          <p:nvPr/>
        </p:nvSpPr>
        <p:spPr>
          <a:xfrm>
            <a:off x="5212073" y="1080554"/>
            <a:ext cx="445506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核心模式</a:t>
            </a:r>
            <a:endParaRPr lang="en-US" altLang="zh-CN" b="1" dirty="0"/>
          </a:p>
          <a:p>
            <a:pPr marL="342900" indent="-342900">
              <a:buFont typeface="Wingdings" panose="05000000000000000000" pitchFamily="2" charset="2"/>
              <a:buChar char="u"/>
            </a:pPr>
            <a:r>
              <a:rPr lang="zh-CN" altLang="en-US" dirty="0"/>
              <a:t>以问题组织自主学习；</a:t>
            </a: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u"/>
            </a:pPr>
            <a:r>
              <a:rPr lang="zh-CN" altLang="en-US" dirty="0"/>
              <a:t>以同伴讨论检验理解；</a:t>
            </a: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u"/>
            </a:pPr>
            <a:r>
              <a:rPr lang="zh-CN" altLang="en-US" dirty="0"/>
              <a:t>以小任务推动实践；</a:t>
            </a: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u"/>
            </a:pPr>
            <a:r>
              <a:rPr lang="zh-CN" altLang="en-US" dirty="0"/>
              <a:t>学习过程沉淀为共同编写的知识成果；</a:t>
            </a:r>
            <a:endParaRPr lang="en-US" altLang="zh-CN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7D05ABB-3A15-446D-8733-0EB9773882AE}"/>
              </a:ext>
            </a:extLst>
          </p:cNvPr>
          <p:cNvSpPr txBox="1"/>
          <p:nvPr/>
        </p:nvSpPr>
        <p:spPr>
          <a:xfrm>
            <a:off x="5212073" y="2799745"/>
            <a:ext cx="551423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个人学习循环：</a:t>
            </a:r>
            <a:endParaRPr lang="en-US" altLang="zh-CN" b="1" dirty="0"/>
          </a:p>
          <a:p>
            <a:r>
              <a:rPr lang="zh-CN" altLang="en-US" dirty="0"/>
              <a:t>问题 → 自学 → 表达 → 反馈 → 修正 → 实践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b="1" dirty="0"/>
              <a:t>集体积累循环：</a:t>
            </a:r>
            <a:endParaRPr lang="en-US" altLang="zh-CN" b="1" dirty="0"/>
          </a:p>
          <a:p>
            <a:r>
              <a:rPr lang="zh-CN" altLang="en-US" dirty="0"/>
              <a:t>笔记与讨论 → 对比整理 → 手册 → 下一轮学习基础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EDABA95-FBEE-4A35-BD3C-20570EC420D0}"/>
              </a:ext>
            </a:extLst>
          </p:cNvPr>
          <p:cNvSpPr txBox="1"/>
          <p:nvPr/>
        </p:nvSpPr>
        <p:spPr>
          <a:xfrm>
            <a:off x="1112836" y="2799745"/>
            <a:ext cx="283491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同一个主题，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b="1" dirty="0"/>
              <a:t>有人擅长理论概括</a:t>
            </a:r>
            <a:r>
              <a:rPr lang="zh-CN" altLang="en-US" dirty="0"/>
              <a:t>，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b="1" dirty="0"/>
              <a:t>有人提供技术细节</a:t>
            </a:r>
            <a:r>
              <a:rPr lang="zh-CN" altLang="en-US" dirty="0"/>
              <a:t>，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b="1" dirty="0"/>
              <a:t>有人重视参考依据</a:t>
            </a:r>
            <a:r>
              <a:rPr lang="zh-CN" altLang="en-US" dirty="0"/>
              <a:t>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差异，是共同学习的资源。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DC2074C-5FCB-4347-A4A4-BE2F8E8D683F}"/>
              </a:ext>
            </a:extLst>
          </p:cNvPr>
          <p:cNvSpPr txBox="1"/>
          <p:nvPr/>
        </p:nvSpPr>
        <p:spPr>
          <a:xfrm>
            <a:off x="1112836" y="1080554"/>
            <a:ext cx="255685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参与背景</a:t>
            </a:r>
            <a:endParaRPr lang="en-US" altLang="zh-CN" b="1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/>
              <a:t>专业基础深厚、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/>
              <a:t>自主学习能力强、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/>
              <a:t>实际问题导向、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/>
              <a:t>协作意愿高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9753296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CAD8CC7-4A3B-46F5-BA0C-3151F2FCA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163ED-242A-435D-AF32-93DF19B59BB7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BC2A5840-E964-4744-ADC9-B6338852A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1850" y="472071"/>
            <a:ext cx="2208298" cy="584775"/>
          </a:xfrm>
        </p:spPr>
        <p:txBody>
          <a:bodyPr/>
          <a:lstStyle/>
          <a:p>
            <a:pPr algn="ctr"/>
            <a:r>
              <a:rPr lang="en-US" altLang="zh-CN" b="1" dirty="0"/>
              <a:t>1</a:t>
            </a:r>
            <a:r>
              <a:rPr lang="en-US" altLang="zh-CN" b="1" baseline="30000" dirty="0"/>
              <a:t>st – </a:t>
            </a:r>
            <a:r>
              <a:rPr lang="en-US" altLang="zh-CN" b="1" dirty="0"/>
              <a:t>4</a:t>
            </a:r>
            <a:r>
              <a:rPr lang="en-US" altLang="zh-CN" b="1" baseline="30000" dirty="0"/>
              <a:t>th </a:t>
            </a:r>
            <a:r>
              <a:rPr lang="zh-CN" altLang="en-US" b="1" dirty="0"/>
              <a:t>总结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B0DF5A5-38AC-4FC0-90B7-92C2FFBBB9C4}"/>
              </a:ext>
            </a:extLst>
          </p:cNvPr>
          <p:cNvSpPr txBox="1"/>
          <p:nvPr/>
        </p:nvSpPr>
        <p:spPr>
          <a:xfrm>
            <a:off x="609604" y="1056846"/>
            <a:ext cx="24000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反馈与建议：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3C9437D-6D85-472B-91FA-D251E4DCBDA9}"/>
              </a:ext>
            </a:extLst>
          </p:cNvPr>
          <p:cNvSpPr txBox="1"/>
          <p:nvPr/>
        </p:nvSpPr>
        <p:spPr>
          <a:xfrm>
            <a:off x="507027" y="3429000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下一步的行动：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9B43D7D-F311-428B-B9DE-F629ADA87929}"/>
              </a:ext>
            </a:extLst>
          </p:cNvPr>
          <p:cNvSpPr txBox="1"/>
          <p:nvPr/>
        </p:nvSpPr>
        <p:spPr>
          <a:xfrm>
            <a:off x="609604" y="1652953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XXXX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A67A284-994B-4B15-90C6-A3236EC72FE5}"/>
              </a:ext>
            </a:extLst>
          </p:cNvPr>
          <p:cNvSpPr txBox="1"/>
          <p:nvPr/>
        </p:nvSpPr>
        <p:spPr>
          <a:xfrm>
            <a:off x="609603" y="4024087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XXXX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96851297"/>
      </p:ext>
    </p:extLst>
  </p:cSld>
  <p:clrMapOvr>
    <a:masterClrMapping/>
  </p:clrMapOvr>
</p:sld>
</file>

<file path=ppt/theme/theme1.xml><?xml version="1.0" encoding="utf-8"?>
<a:theme xmlns:a="http://schemas.openxmlformats.org/drawingml/2006/main" name="HKUST-宽屏-精致-方块">
  <a:themeElements>
    <a:clrScheme name="Berkeley-Haas Color Palette">
      <a:dk1>
        <a:srgbClr val="003057"/>
      </a:dk1>
      <a:lt1>
        <a:sysClr val="window" lastClr="FFFFFF"/>
      </a:lt1>
      <a:dk2>
        <a:srgbClr val="75777B"/>
      </a:dk2>
      <a:lt2>
        <a:srgbClr val="C3BDAD"/>
      </a:lt2>
      <a:accent1>
        <a:srgbClr val="0072CE"/>
      </a:accent1>
      <a:accent2>
        <a:srgbClr val="D8623F"/>
      </a:accent2>
      <a:accent3>
        <a:srgbClr val="6AA603"/>
      </a:accent3>
      <a:accent4>
        <a:srgbClr val="EFB82B"/>
      </a:accent4>
      <a:accent5>
        <a:srgbClr val="EA4D6C"/>
      </a:accent5>
      <a:accent6>
        <a:srgbClr val="9BBFAD"/>
      </a:accent6>
      <a:hlink>
        <a:srgbClr val="B2B3B2"/>
      </a:hlink>
      <a:folHlink>
        <a:srgbClr val="777877"/>
      </a:folHlink>
    </a:clrScheme>
    <a:fontScheme name="hd2x35d2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HKUST-宽屏-精致-方块</Template>
  <TotalTime>240</TotalTime>
  <Words>705</Words>
  <Application>Microsoft Office PowerPoint</Application>
  <PresentationFormat>宽屏</PresentationFormat>
  <Paragraphs>102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7" baseType="lpstr">
      <vt:lpstr>Arial</vt:lpstr>
      <vt:lpstr>Bahnschrift SemiBold</vt:lpstr>
      <vt:lpstr>Calibri</vt:lpstr>
      <vt:lpstr>Consolas</vt:lpstr>
      <vt:lpstr>Helvetica</vt:lpstr>
      <vt:lpstr>Wingdings</vt:lpstr>
      <vt:lpstr>HKUST-宽屏-精致-方块</vt:lpstr>
      <vt:lpstr>AI for CHEM 第四次讨论</vt:lpstr>
      <vt:lpstr>机器学习与人工智能</vt:lpstr>
      <vt:lpstr>人工智能：1956达特茅斯会议</vt:lpstr>
      <vt:lpstr>机器学习类别</vt:lpstr>
      <vt:lpstr>特征与标签</vt:lpstr>
      <vt:lpstr>公式与模型</vt:lpstr>
      <vt:lpstr>讨论流程</vt:lpstr>
      <vt:lpstr>1st – 4th 总结</vt:lpstr>
      <vt:lpstr>1st – 4th 总结</vt:lpstr>
      <vt:lpstr>1st – 4th 总结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冲 李</dc:creator>
  <cp:lastModifiedBy>LI Chong</cp:lastModifiedBy>
  <cp:revision>113</cp:revision>
  <dcterms:created xsi:type="dcterms:W3CDTF">2026-09-03T09:08:00Z</dcterms:created>
  <dcterms:modified xsi:type="dcterms:W3CDTF">2026-10-15T10:33:33Z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2052-11.8.2.8361</vt:lpwstr>
  </property>
</Properties>
</file>